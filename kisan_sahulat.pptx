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60"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2098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Greet the judges, name the project, and give the one-line pitch: Kisan AI helps a farmer decide whether to grow a crop, protect it and make money from it, in their own language. Replace the bracketed names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Tell it as a farmer's story: a farmer sees a problem on the crop, the nearest expert is far away, the dealer sells whatever is in stock, and the advice is not in the farmer's language. Touch all four gaps quickly. Add one real statistic with its source before presenting. Do not quote numbers you cannot source.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Explain that the four checks are connected: the land risk changes the disease risk, which changes the profit, and the chatbot explains the result. Say the pitch line: should I grow this here, will it survive, will it pay, and what do I do next.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Walk the flow left to right using the assignment's Problem, Data, AI Component, Solution, Impact structure. Be clear about which parts are trained models (flood risk, leaf classifier) and which are rules or simulation. Judges respect honesty about this.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110 seconds, the longest part of the talk. Run the live app if it is loaded and tested on the team laptop; use the screen recording as the backup. Narrate each step: change the district and show the Land card change, upload a leaf photo, show the profit range and chance of loss, then ask the chatbot a question in Urdu. Replace the placeholder with the recording or screenshots once the app is built.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Give the three headline numbers from the notebook: classifier accuracy, flood model recall on 2022, and the sample profit-and-loss result. Say plainly that dataset accuracy is higher than real field accuracy. If a number is not ready, remove that card instead of leaving a placeholder.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State the impact in one breath, then be upfront about the limits. Naming the limits yourself shows you understand the system, and it leads naturally into the roadmap.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Name two or three next steps, then close. Keep the roadmap to what you can actually explain; remove any item you would not be comfortable being asked about. Finish with the thank-you line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2261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F6F3EA"/>
                </a:solidFill>
                <a:latin typeface="Rubik" pitchFamily="34" charset="0"/>
                <a:ea typeface="Rubik" pitchFamily="34" charset="-122"/>
                <a:cs typeface="Rubi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F6F3EA"/>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261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F6F3EA"/>
                </a:solidFill>
                <a:latin typeface="Rubik" pitchFamily="34" charset="0"/>
                <a:ea typeface="Rubik" pitchFamily="34" charset="-122"/>
                <a:cs typeface="Rubi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F6F3EA"/>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tooba75/Kisan_Sahulat"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1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endParaRPr lang="en-US" sz="1400" dirty="0"/>
          </a:p>
        </p:txBody>
      </p:sp>
      <p:sp>
        <p:nvSpPr>
          <p:cNvPr id="4" name="Text 2"/>
          <p:cNvSpPr>
            <a:spLocks noGrp="1"/>
          </p:cNvSpPr>
          <p:nvPr>
            <p:ph type="title"/>
          </p:nvPr>
        </p:nvSpPr>
        <p:spPr>
          <a:xfrm>
            <a:off x="619517" y="2459017"/>
            <a:ext cx="10883392" cy="1252190"/>
          </a:xfrm>
          <a:prstGeom prst="rect">
            <a:avLst/>
          </a:prstGeom>
          <a:noFill/>
          <a:ln/>
        </p:spPr>
        <p:txBody>
          <a:bodyPr wrap="square" lIns="0" tIns="0" rIns="0" bIns="0" rtlCol="0" anchor="t">
            <a:normAutofit/>
          </a:bodyPr>
          <a:lstStyle/>
          <a:p>
            <a:pPr marL="0" indent="0" algn="l">
              <a:lnSpc>
                <a:spcPts val="9660"/>
              </a:lnSpc>
              <a:buNone/>
            </a:pPr>
            <a:r>
              <a:rPr sz="6600" b="1" dirty="0">
                <a:solidFill>
                  <a:srgbClr val="1F5E3D"/>
                </a:solidFill>
              </a:rPr>
              <a:t>Kisan </a:t>
            </a:r>
            <a:r>
              <a:rPr sz="6600" b="1" dirty="0" err="1">
                <a:solidFill>
                  <a:srgbClr val="1F5E3D"/>
                </a:solidFill>
              </a:rPr>
              <a:t>Sahulat</a:t>
            </a:r>
            <a:r>
              <a:rPr sz="6600" b="1" dirty="0">
                <a:solidFill>
                  <a:srgbClr val="1F5E3D"/>
                </a:solidFill>
              </a:rPr>
              <a:t> </a:t>
            </a:r>
            <a:endParaRPr lang="en-US" sz="16600" dirty="0"/>
          </a:p>
        </p:txBody>
      </p:sp>
      <p:sp>
        <p:nvSpPr>
          <p:cNvPr id="5" name="Text 3"/>
          <p:cNvSpPr/>
          <p:nvPr/>
        </p:nvSpPr>
        <p:spPr>
          <a:xfrm>
            <a:off x="654304" y="3928762"/>
            <a:ext cx="10883392" cy="454620"/>
          </a:xfrm>
          <a:prstGeom prst="rect">
            <a:avLst/>
          </a:prstGeom>
          <a:noFill/>
          <a:ln/>
        </p:spPr>
        <p:txBody>
          <a:bodyPr wrap="square" lIns="0" tIns="0" rIns="0" bIns="0" rtlCol="0" anchor="t">
            <a:normAutofit/>
          </a:bodyPr>
          <a:lstStyle/>
          <a:p>
            <a:pPr marL="0" indent="0" algn="l">
              <a:lnSpc>
                <a:spcPts val="3380"/>
              </a:lnSpc>
              <a:buNone/>
            </a:pPr>
            <a:r>
              <a:rPr sz="2100" b="0" dirty="0">
                <a:solidFill>
                  <a:schemeClr val="tx2"/>
                </a:solidFill>
              </a:rPr>
              <a:t>An AI farm advisor: land, crop, money and guidance in the farmer’s own language.</a:t>
            </a:r>
            <a:endParaRPr lang="en-US" sz="2600" dirty="0">
              <a:solidFill>
                <a:schemeClr val="tx2"/>
              </a:solidFill>
            </a:endParaRPr>
          </a:p>
        </p:txBody>
      </p:sp>
      <p:sp>
        <p:nvSpPr>
          <p:cNvPr id="6" name="Text 4"/>
          <p:cNvSpPr/>
          <p:nvPr/>
        </p:nvSpPr>
        <p:spPr>
          <a:xfrm>
            <a:off x="812800" y="5575300"/>
            <a:ext cx="10883392" cy="292100"/>
          </a:xfrm>
          <a:prstGeom prst="rect">
            <a:avLst/>
          </a:prstGeom>
          <a:noFill/>
          <a:ln/>
        </p:spPr>
        <p:txBody>
          <a:bodyPr wrap="square" lIns="0" tIns="0" rIns="0" bIns="0" rtlCol="0" anchor="t">
            <a:normAutofit/>
          </a:bodyPr>
          <a:lstStyle/>
          <a:p>
            <a:pPr marL="0" indent="0" algn="l">
              <a:lnSpc>
                <a:spcPts val="2100"/>
              </a:lnSpc>
              <a:buNone/>
            </a:pP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61C"/>
                </a:solidFill>
                <a:latin typeface="Rubik" pitchFamily="34" charset="0"/>
                <a:ea typeface="Rubik" pitchFamily="34" charset="-122"/>
                <a:cs typeface="Rubik" pitchFamily="34" charset="-120"/>
              </a:rPr>
              <a:t>The problem</a:t>
            </a:r>
            <a:endParaRPr lang="en-US" sz="3600" dirty="0"/>
          </a:p>
        </p:txBody>
      </p:sp>
      <p:sp>
        <p:nvSpPr>
          <p:cNvPr id="4" name="Shape 2"/>
          <p:cNvSpPr/>
          <p:nvPr/>
        </p:nvSpPr>
        <p:spPr>
          <a:xfrm>
            <a:off x="815975" y="1994495"/>
            <a:ext cx="5200650" cy="1327051"/>
          </a:xfrm>
          <a:prstGeom prst="roundRect">
            <a:avLst>
              <a:gd name="adj" fmla="val 7417"/>
            </a:avLst>
          </a:prstGeom>
          <a:solidFill>
            <a:srgbClr val="FFFDF8"/>
          </a:solidFill>
          <a:ln w="6350">
            <a:solidFill>
              <a:srgbClr val="DDD6C3"/>
            </a:solidFill>
            <a:prstDash val="solid"/>
          </a:ln>
        </p:spPr>
      </p:sp>
      <p:sp>
        <p:nvSpPr>
          <p:cNvPr id="5" name="Text 3"/>
          <p:cNvSpPr/>
          <p:nvPr/>
        </p:nvSpPr>
        <p:spPr>
          <a:xfrm>
            <a:off x="1047750" y="2226270"/>
            <a:ext cx="4879213"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2F7D4F"/>
                </a:solidFill>
                <a:latin typeface="Rubik" pitchFamily="34" charset="0"/>
                <a:ea typeface="Rubik" pitchFamily="34" charset="-122"/>
                <a:cs typeface="Rubik" pitchFamily="34" charset="-120"/>
              </a:rPr>
              <a:t>Environmental stress</a:t>
            </a:r>
            <a:endParaRPr lang="en-US" sz="1900" dirty="0"/>
          </a:p>
        </p:txBody>
      </p:sp>
      <p:sp>
        <p:nvSpPr>
          <p:cNvPr id="6" name="Text 4"/>
          <p:cNvSpPr/>
          <p:nvPr/>
        </p:nvSpPr>
        <p:spPr>
          <a:xfrm>
            <a:off x="1047750" y="2591991"/>
            <a:ext cx="487921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A21"/>
                </a:solidFill>
                <a:latin typeface="Nunito Sans" pitchFamily="34" charset="0"/>
                <a:ea typeface="Nunito Sans" pitchFamily="34" charset="-122"/>
                <a:cs typeface="Nunito Sans" pitchFamily="34" charset="-120"/>
              </a:rPr>
              <a:t>Smog, industrial pollution and urban expansion damage crops and shrink farmland.</a:t>
            </a:r>
            <a:endParaRPr lang="en-US" sz="1400" dirty="0"/>
          </a:p>
        </p:txBody>
      </p:sp>
      <p:sp>
        <p:nvSpPr>
          <p:cNvPr id="7" name="Shape 5"/>
          <p:cNvSpPr/>
          <p:nvPr/>
        </p:nvSpPr>
        <p:spPr>
          <a:xfrm>
            <a:off x="6175375" y="1994495"/>
            <a:ext cx="5200650" cy="1327051"/>
          </a:xfrm>
          <a:prstGeom prst="roundRect">
            <a:avLst>
              <a:gd name="adj" fmla="val 7417"/>
            </a:avLst>
          </a:prstGeom>
          <a:solidFill>
            <a:srgbClr val="FFFDF8"/>
          </a:solidFill>
          <a:ln w="6350">
            <a:solidFill>
              <a:srgbClr val="DDD6C3"/>
            </a:solidFill>
            <a:prstDash val="solid"/>
          </a:ln>
        </p:spPr>
      </p:sp>
      <p:sp>
        <p:nvSpPr>
          <p:cNvPr id="8" name="Text 6"/>
          <p:cNvSpPr/>
          <p:nvPr/>
        </p:nvSpPr>
        <p:spPr>
          <a:xfrm>
            <a:off x="6407150" y="2226270"/>
            <a:ext cx="4879213"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2F7D4F"/>
                </a:solidFill>
                <a:latin typeface="Rubik" pitchFamily="34" charset="0"/>
                <a:ea typeface="Rubik" pitchFamily="34" charset="-122"/>
                <a:cs typeface="Rubik" pitchFamily="34" charset="-120"/>
              </a:rPr>
              <a:t>Crop loss and input misuse</a:t>
            </a:r>
            <a:endParaRPr lang="en-US" sz="1900" dirty="0"/>
          </a:p>
        </p:txBody>
      </p:sp>
      <p:sp>
        <p:nvSpPr>
          <p:cNvPr id="9" name="Text 7"/>
          <p:cNvSpPr/>
          <p:nvPr/>
        </p:nvSpPr>
        <p:spPr>
          <a:xfrm>
            <a:off x="6407150" y="2591991"/>
            <a:ext cx="487921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A21"/>
                </a:solidFill>
                <a:latin typeface="Nunito Sans" pitchFamily="34" charset="0"/>
                <a:ea typeface="Nunito Sans" pitchFamily="34" charset="-122"/>
                <a:cs typeface="Nunito Sans" pitchFamily="34" charset="-120"/>
              </a:rPr>
              <a:t>Diseases and pests are found late, and spray is often guessed or dealer-driven.</a:t>
            </a:r>
            <a:endParaRPr lang="en-US" sz="1400" dirty="0"/>
          </a:p>
        </p:txBody>
      </p:sp>
      <p:sp>
        <p:nvSpPr>
          <p:cNvPr id="10" name="Shape 8"/>
          <p:cNvSpPr/>
          <p:nvPr/>
        </p:nvSpPr>
        <p:spPr>
          <a:xfrm>
            <a:off x="815975" y="3480296"/>
            <a:ext cx="5200650" cy="1327051"/>
          </a:xfrm>
          <a:prstGeom prst="roundRect">
            <a:avLst>
              <a:gd name="adj" fmla="val 7417"/>
            </a:avLst>
          </a:prstGeom>
          <a:solidFill>
            <a:srgbClr val="FFFDF8"/>
          </a:solidFill>
          <a:ln w="6350">
            <a:solidFill>
              <a:srgbClr val="DDD6C3"/>
            </a:solidFill>
            <a:prstDash val="solid"/>
          </a:ln>
        </p:spPr>
      </p:sp>
      <p:sp>
        <p:nvSpPr>
          <p:cNvPr id="11" name="Text 9"/>
          <p:cNvSpPr/>
          <p:nvPr/>
        </p:nvSpPr>
        <p:spPr>
          <a:xfrm>
            <a:off x="1047750" y="3712071"/>
            <a:ext cx="4879213"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2F7D4F"/>
                </a:solidFill>
                <a:latin typeface="Rubik" pitchFamily="34" charset="0"/>
                <a:ea typeface="Rubik" pitchFamily="34" charset="-122"/>
                <a:cs typeface="Rubik" pitchFamily="34" charset="-120"/>
              </a:rPr>
              <a:t>Market and cost pressure</a:t>
            </a:r>
            <a:endParaRPr lang="en-US" sz="1900" dirty="0"/>
          </a:p>
        </p:txBody>
      </p:sp>
      <p:sp>
        <p:nvSpPr>
          <p:cNvPr id="12" name="Text 10"/>
          <p:cNvSpPr/>
          <p:nvPr/>
        </p:nvSpPr>
        <p:spPr>
          <a:xfrm>
            <a:off x="1047750" y="4077791"/>
            <a:ext cx="487921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A21"/>
                </a:solidFill>
                <a:latin typeface="Nunito Sans" pitchFamily="34" charset="0"/>
                <a:ea typeface="Nunito Sans" pitchFamily="34" charset="-122"/>
                <a:cs typeface="Nunito Sans" pitchFamily="34" charset="-120"/>
              </a:rPr>
              <a:t>Middlemen set prices while seed, fertilizer and pesticide costs keep rising.</a:t>
            </a:r>
            <a:endParaRPr lang="en-US" sz="1400" dirty="0"/>
          </a:p>
        </p:txBody>
      </p:sp>
      <p:sp>
        <p:nvSpPr>
          <p:cNvPr id="13" name="Shape 11"/>
          <p:cNvSpPr/>
          <p:nvPr/>
        </p:nvSpPr>
        <p:spPr>
          <a:xfrm>
            <a:off x="6175375" y="3480296"/>
            <a:ext cx="5200650" cy="1327051"/>
          </a:xfrm>
          <a:prstGeom prst="roundRect">
            <a:avLst>
              <a:gd name="adj" fmla="val 7417"/>
            </a:avLst>
          </a:prstGeom>
          <a:solidFill>
            <a:srgbClr val="FFFDF8"/>
          </a:solidFill>
          <a:ln w="6350">
            <a:solidFill>
              <a:srgbClr val="DDD6C3"/>
            </a:solidFill>
            <a:prstDash val="solid"/>
          </a:ln>
        </p:spPr>
      </p:sp>
      <p:sp>
        <p:nvSpPr>
          <p:cNvPr id="14" name="Text 12"/>
          <p:cNvSpPr/>
          <p:nvPr/>
        </p:nvSpPr>
        <p:spPr>
          <a:xfrm>
            <a:off x="6407150" y="3712071"/>
            <a:ext cx="4879213"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2F7D4F"/>
                </a:solidFill>
                <a:latin typeface="Rubik" pitchFamily="34" charset="0"/>
                <a:ea typeface="Rubik" pitchFamily="34" charset="-122"/>
                <a:cs typeface="Rubik" pitchFamily="34" charset="-120"/>
              </a:rPr>
              <a:t>Advisory gap</a:t>
            </a:r>
            <a:endParaRPr lang="en-US" sz="1900" dirty="0"/>
          </a:p>
        </p:txBody>
      </p:sp>
      <p:sp>
        <p:nvSpPr>
          <p:cNvPr id="15" name="Text 13"/>
          <p:cNvSpPr/>
          <p:nvPr/>
        </p:nvSpPr>
        <p:spPr>
          <a:xfrm>
            <a:off x="6407150" y="4077791"/>
            <a:ext cx="487921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A21"/>
                </a:solidFill>
                <a:latin typeface="Nunito Sans" pitchFamily="34" charset="0"/>
                <a:ea typeface="Nunito Sans" pitchFamily="34" charset="-122"/>
                <a:cs typeface="Nunito Sans" pitchFamily="34" charset="-120"/>
              </a:rPr>
              <a:t>Expert advice is rare and rarely offered in Urdu, Punjabi, Sindhi or Saraiki.</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61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3EA"/>
                </a:solidFill>
                <a:latin typeface="Rubik" pitchFamily="34" charset="0"/>
                <a:ea typeface="Rubik" pitchFamily="34" charset="-122"/>
                <a:cs typeface="Rubik" pitchFamily="34" charset="-120"/>
              </a:rPr>
              <a:t>Our solution</a:t>
            </a:r>
            <a:endParaRPr lang="en-US" sz="3600" dirty="0"/>
          </a:p>
        </p:txBody>
      </p:sp>
      <p:sp>
        <p:nvSpPr>
          <p:cNvPr id="3" name="Text 1"/>
          <p:cNvSpPr/>
          <p:nvPr/>
        </p:nvSpPr>
        <p:spPr>
          <a:xfrm>
            <a:off x="812800" y="1417290"/>
            <a:ext cx="10883392"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FD3C5"/>
                </a:solidFill>
                <a:latin typeface="Nunito Sans" pitchFamily="34" charset="0"/>
                <a:ea typeface="Nunito Sans" pitchFamily="34" charset="-122"/>
                <a:cs typeface="Nunito Sans" pitchFamily="34" charset="-120"/>
              </a:rPr>
              <a:t>The farmer enters district, crop and acres once. Every check reuses that profile.</a:t>
            </a:r>
            <a:endParaRPr lang="en-US" sz="1800" dirty="0"/>
          </a:p>
        </p:txBody>
      </p:sp>
      <p:sp>
        <p:nvSpPr>
          <p:cNvPr id="4" name="Shape 2"/>
          <p:cNvSpPr/>
          <p:nvPr/>
        </p:nvSpPr>
        <p:spPr>
          <a:xfrm>
            <a:off x="815975" y="2045295"/>
            <a:ext cx="2520950" cy="2216001"/>
          </a:xfrm>
          <a:prstGeom prst="roundRect">
            <a:avLst>
              <a:gd name="adj" fmla="val 4442"/>
            </a:avLst>
          </a:prstGeom>
          <a:solidFill>
            <a:srgbClr val="1B3829"/>
          </a:solidFill>
          <a:ln w="6350">
            <a:solidFill>
              <a:srgbClr val="2C5240"/>
            </a:solidFill>
            <a:prstDash val="solid"/>
          </a:ln>
        </p:spPr>
      </p:sp>
      <p:sp>
        <p:nvSpPr>
          <p:cNvPr id="5" name="Text 3"/>
          <p:cNvSpPr/>
          <p:nvPr/>
        </p:nvSpPr>
        <p:spPr>
          <a:xfrm>
            <a:off x="1022350" y="2251670"/>
            <a:ext cx="406400" cy="325090"/>
          </a:xfrm>
          <a:custGeom>
            <a:avLst/>
            <a:gdLst/>
            <a:ahLst/>
            <a:cxnLst/>
            <a:rect l="l" t="t" r="r" b="b"/>
            <a:pathLst>
              <a:path w="406400" h="325090">
                <a:moveTo>
                  <a:pt x="162545" y="0"/>
                </a:moveTo>
                <a:lnTo>
                  <a:pt x="243855" y="0"/>
                </a:lnTo>
                <a:arcTo wR="162545" hR="162545" stAng="16200000" swAng="5400000"/>
                <a:lnTo>
                  <a:pt x="406400" y="162545"/>
                </a:lnTo>
                <a:arcTo wR="162545" hR="162545" stAng="0" swAng="5400000"/>
                <a:lnTo>
                  <a:pt x="162545" y="325090"/>
                </a:lnTo>
                <a:arcTo wR="162545" hR="162545" stAng="5400000" swAng="5400000"/>
                <a:lnTo>
                  <a:pt x="0" y="162545"/>
                </a:lnTo>
                <a:arcTo wR="162545" hR="162545" stAng="10800000" swAng="5400000"/>
                <a:close/>
              </a:path>
            </a:pathLst>
          </a:custGeom>
          <a:solidFill>
            <a:srgbClr val="E0A43B"/>
          </a:solidFill>
          <a:ln/>
        </p:spPr>
        <p:txBody>
          <a:bodyPr wrap="square" lIns="88900" tIns="38100" rIns="88900" bIns="12700" rtlCol="0" anchor="t">
            <a:normAutofit/>
          </a:bodyPr>
          <a:lstStyle/>
          <a:p>
            <a:pPr marL="0" indent="0" algn="ctr">
              <a:lnSpc>
                <a:spcPts val="1960"/>
              </a:lnSpc>
              <a:buNone/>
            </a:pPr>
            <a:r>
              <a:rPr lang="en-US" sz="1400" b="1" dirty="0">
                <a:solidFill>
                  <a:srgbClr val="12261C"/>
                </a:solidFill>
                <a:latin typeface="Nunito Sans" pitchFamily="34" charset="0"/>
                <a:ea typeface="Nunito Sans" pitchFamily="34" charset="-122"/>
                <a:cs typeface="Nunito Sans" pitchFamily="34" charset="-120"/>
              </a:rPr>
              <a:t>1</a:t>
            </a:r>
            <a:endParaRPr lang="en-US" sz="1400" dirty="0"/>
          </a:p>
        </p:txBody>
      </p:sp>
      <p:sp>
        <p:nvSpPr>
          <p:cNvPr id="6" name="Text 4"/>
          <p:cNvSpPr/>
          <p:nvPr/>
        </p:nvSpPr>
        <p:spPr>
          <a:xfrm>
            <a:off x="1022350" y="2665661"/>
            <a:ext cx="217144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0A43B"/>
                </a:solidFill>
                <a:latin typeface="Rubik" pitchFamily="34" charset="0"/>
                <a:ea typeface="Rubik" pitchFamily="34" charset="-122"/>
                <a:cs typeface="Rubik" pitchFamily="34" charset="-120"/>
              </a:rPr>
              <a:t>Land</a:t>
            </a:r>
            <a:endParaRPr lang="en-US" sz="2000" dirty="0"/>
          </a:p>
        </p:txBody>
      </p:sp>
      <p:sp>
        <p:nvSpPr>
          <p:cNvPr id="7" name="Text 5"/>
          <p:cNvSpPr/>
          <p:nvPr/>
        </p:nvSpPr>
        <p:spPr>
          <a:xfrm>
            <a:off x="1022350" y="3059361"/>
            <a:ext cx="2171446" cy="1020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6F3EA"/>
                </a:solidFill>
                <a:latin typeface="Nunito Sans" pitchFamily="34" charset="0"/>
                <a:ea typeface="Nunito Sans" pitchFamily="34" charset="-122"/>
                <a:cs typeface="Nunito Sans" pitchFamily="34" charset="-120"/>
              </a:rPr>
              <a:t>Live weather, flood and air quality give a feasibility verdict and care plan.</a:t>
            </a:r>
            <a:endParaRPr lang="en-US" sz="1400" dirty="0"/>
          </a:p>
        </p:txBody>
      </p:sp>
      <p:sp>
        <p:nvSpPr>
          <p:cNvPr id="8" name="Shape 6"/>
          <p:cNvSpPr/>
          <p:nvPr/>
        </p:nvSpPr>
        <p:spPr>
          <a:xfrm>
            <a:off x="3495675" y="2045295"/>
            <a:ext cx="2520950" cy="2216001"/>
          </a:xfrm>
          <a:prstGeom prst="roundRect">
            <a:avLst>
              <a:gd name="adj" fmla="val 4442"/>
            </a:avLst>
          </a:prstGeom>
          <a:solidFill>
            <a:srgbClr val="1B3829"/>
          </a:solidFill>
          <a:ln w="6350">
            <a:solidFill>
              <a:srgbClr val="2C5240"/>
            </a:solidFill>
            <a:prstDash val="solid"/>
          </a:ln>
        </p:spPr>
      </p:sp>
      <p:sp>
        <p:nvSpPr>
          <p:cNvPr id="9" name="Text 7"/>
          <p:cNvSpPr/>
          <p:nvPr/>
        </p:nvSpPr>
        <p:spPr>
          <a:xfrm>
            <a:off x="3702050" y="2251670"/>
            <a:ext cx="406400" cy="325090"/>
          </a:xfrm>
          <a:custGeom>
            <a:avLst/>
            <a:gdLst/>
            <a:ahLst/>
            <a:cxnLst/>
            <a:rect l="l" t="t" r="r" b="b"/>
            <a:pathLst>
              <a:path w="406400" h="325090">
                <a:moveTo>
                  <a:pt x="162545" y="0"/>
                </a:moveTo>
                <a:lnTo>
                  <a:pt x="243855" y="0"/>
                </a:lnTo>
                <a:arcTo wR="162545" hR="162545" stAng="16200000" swAng="5400000"/>
                <a:lnTo>
                  <a:pt x="406400" y="162545"/>
                </a:lnTo>
                <a:arcTo wR="162545" hR="162545" stAng="0" swAng="5400000"/>
                <a:lnTo>
                  <a:pt x="162545" y="325090"/>
                </a:lnTo>
                <a:arcTo wR="162545" hR="162545" stAng="5400000" swAng="5400000"/>
                <a:lnTo>
                  <a:pt x="0" y="162545"/>
                </a:lnTo>
                <a:arcTo wR="162545" hR="162545" stAng="10800000" swAng="5400000"/>
                <a:close/>
              </a:path>
            </a:pathLst>
          </a:custGeom>
          <a:solidFill>
            <a:srgbClr val="E0A43B"/>
          </a:solidFill>
          <a:ln/>
        </p:spPr>
        <p:txBody>
          <a:bodyPr wrap="square" lIns="88900" tIns="38100" rIns="88900" bIns="12700" rtlCol="0" anchor="t">
            <a:normAutofit/>
          </a:bodyPr>
          <a:lstStyle/>
          <a:p>
            <a:pPr marL="0" indent="0" algn="ctr">
              <a:lnSpc>
                <a:spcPts val="1960"/>
              </a:lnSpc>
              <a:buNone/>
            </a:pPr>
            <a:r>
              <a:rPr lang="en-US" sz="1400" b="1" dirty="0">
                <a:solidFill>
                  <a:srgbClr val="12261C"/>
                </a:solidFill>
                <a:latin typeface="Nunito Sans" pitchFamily="34" charset="0"/>
                <a:ea typeface="Nunito Sans" pitchFamily="34" charset="-122"/>
                <a:cs typeface="Nunito Sans" pitchFamily="34" charset="-120"/>
              </a:rPr>
              <a:t>2</a:t>
            </a:r>
            <a:endParaRPr lang="en-US" sz="1400" dirty="0"/>
          </a:p>
        </p:txBody>
      </p:sp>
      <p:sp>
        <p:nvSpPr>
          <p:cNvPr id="10" name="Text 8"/>
          <p:cNvSpPr/>
          <p:nvPr/>
        </p:nvSpPr>
        <p:spPr>
          <a:xfrm>
            <a:off x="3702050" y="2665661"/>
            <a:ext cx="217144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0A43B"/>
                </a:solidFill>
                <a:latin typeface="Rubik" pitchFamily="34" charset="0"/>
                <a:ea typeface="Rubik" pitchFamily="34" charset="-122"/>
                <a:cs typeface="Rubik" pitchFamily="34" charset="-120"/>
              </a:rPr>
              <a:t>Crop</a:t>
            </a:r>
            <a:endParaRPr lang="en-US" sz="2000" dirty="0"/>
          </a:p>
        </p:txBody>
      </p:sp>
      <p:sp>
        <p:nvSpPr>
          <p:cNvPr id="11" name="Text 9"/>
          <p:cNvSpPr/>
          <p:nvPr/>
        </p:nvSpPr>
        <p:spPr>
          <a:xfrm>
            <a:off x="3702050" y="3059361"/>
            <a:ext cx="2171446" cy="1020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6F3EA"/>
                </a:solidFill>
                <a:latin typeface="Nunito Sans" pitchFamily="34" charset="0"/>
                <a:ea typeface="Nunito Sans" pitchFamily="34" charset="-122"/>
                <a:cs typeface="Nunito Sans" pitchFamily="34" charset="-120"/>
              </a:rPr>
              <a:t>A leaf photo becomes a disease, treatment and prevention. Spray only what is needed.</a:t>
            </a:r>
            <a:endParaRPr lang="en-US" sz="1400" dirty="0"/>
          </a:p>
        </p:txBody>
      </p:sp>
      <p:sp>
        <p:nvSpPr>
          <p:cNvPr id="12" name="Shape 10"/>
          <p:cNvSpPr/>
          <p:nvPr/>
        </p:nvSpPr>
        <p:spPr>
          <a:xfrm>
            <a:off x="6175375" y="2045295"/>
            <a:ext cx="2520950" cy="2216001"/>
          </a:xfrm>
          <a:prstGeom prst="roundRect">
            <a:avLst>
              <a:gd name="adj" fmla="val 4442"/>
            </a:avLst>
          </a:prstGeom>
          <a:solidFill>
            <a:srgbClr val="1B3829"/>
          </a:solidFill>
          <a:ln w="6350">
            <a:solidFill>
              <a:srgbClr val="2C5240"/>
            </a:solidFill>
            <a:prstDash val="solid"/>
          </a:ln>
        </p:spPr>
      </p:sp>
      <p:sp>
        <p:nvSpPr>
          <p:cNvPr id="13" name="Text 11"/>
          <p:cNvSpPr/>
          <p:nvPr/>
        </p:nvSpPr>
        <p:spPr>
          <a:xfrm>
            <a:off x="6381750" y="2251670"/>
            <a:ext cx="406400" cy="325090"/>
          </a:xfrm>
          <a:custGeom>
            <a:avLst/>
            <a:gdLst/>
            <a:ahLst/>
            <a:cxnLst/>
            <a:rect l="l" t="t" r="r" b="b"/>
            <a:pathLst>
              <a:path w="406400" h="325090">
                <a:moveTo>
                  <a:pt x="162545" y="0"/>
                </a:moveTo>
                <a:lnTo>
                  <a:pt x="243855" y="0"/>
                </a:lnTo>
                <a:arcTo wR="162545" hR="162545" stAng="16200000" swAng="5400000"/>
                <a:lnTo>
                  <a:pt x="406400" y="162545"/>
                </a:lnTo>
                <a:arcTo wR="162545" hR="162545" stAng="0" swAng="5400000"/>
                <a:lnTo>
                  <a:pt x="162545" y="325090"/>
                </a:lnTo>
                <a:arcTo wR="162545" hR="162545" stAng="5400000" swAng="5400000"/>
                <a:lnTo>
                  <a:pt x="0" y="162545"/>
                </a:lnTo>
                <a:arcTo wR="162545" hR="162545" stAng="10800000" swAng="5400000"/>
                <a:close/>
              </a:path>
            </a:pathLst>
          </a:custGeom>
          <a:solidFill>
            <a:srgbClr val="E0A43B"/>
          </a:solidFill>
          <a:ln/>
        </p:spPr>
        <p:txBody>
          <a:bodyPr wrap="square" lIns="88900" tIns="38100" rIns="88900" bIns="12700" rtlCol="0" anchor="t">
            <a:normAutofit/>
          </a:bodyPr>
          <a:lstStyle/>
          <a:p>
            <a:pPr marL="0" indent="0" algn="ctr">
              <a:lnSpc>
                <a:spcPts val="1960"/>
              </a:lnSpc>
              <a:buNone/>
            </a:pPr>
            <a:r>
              <a:rPr lang="en-US" sz="1400" b="1" dirty="0">
                <a:solidFill>
                  <a:srgbClr val="12261C"/>
                </a:solidFill>
                <a:latin typeface="Nunito Sans" pitchFamily="34" charset="0"/>
                <a:ea typeface="Nunito Sans" pitchFamily="34" charset="-122"/>
                <a:cs typeface="Nunito Sans" pitchFamily="34" charset="-120"/>
              </a:rPr>
              <a:t>3</a:t>
            </a:r>
            <a:endParaRPr lang="en-US" sz="1400" dirty="0"/>
          </a:p>
        </p:txBody>
      </p:sp>
      <p:sp>
        <p:nvSpPr>
          <p:cNvPr id="14" name="Text 12"/>
          <p:cNvSpPr/>
          <p:nvPr/>
        </p:nvSpPr>
        <p:spPr>
          <a:xfrm>
            <a:off x="6381750" y="2665661"/>
            <a:ext cx="217144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0A43B"/>
                </a:solidFill>
                <a:latin typeface="Rubik" pitchFamily="34" charset="0"/>
                <a:ea typeface="Rubik" pitchFamily="34" charset="-122"/>
                <a:cs typeface="Rubik" pitchFamily="34" charset="-120"/>
              </a:rPr>
              <a:t>Money</a:t>
            </a:r>
            <a:endParaRPr lang="en-US" sz="2000" dirty="0"/>
          </a:p>
        </p:txBody>
      </p:sp>
      <p:sp>
        <p:nvSpPr>
          <p:cNvPr id="15" name="Text 13"/>
          <p:cNvSpPr/>
          <p:nvPr/>
        </p:nvSpPr>
        <p:spPr>
          <a:xfrm>
            <a:off x="6381750" y="3059361"/>
            <a:ext cx="2171446"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6F3EA"/>
                </a:solidFill>
                <a:latin typeface="Nunito Sans" pitchFamily="34" charset="0"/>
                <a:ea typeface="Nunito Sans" pitchFamily="34" charset="-122"/>
                <a:cs typeface="Nunito Sans" pitchFamily="34" charset="-120"/>
              </a:rPr>
              <a:t>A profit range, the chance of loss, and a fair-price check against middlemen.</a:t>
            </a:r>
            <a:endParaRPr lang="en-US" sz="1400" dirty="0"/>
          </a:p>
        </p:txBody>
      </p:sp>
      <p:sp>
        <p:nvSpPr>
          <p:cNvPr id="16" name="Shape 14"/>
          <p:cNvSpPr/>
          <p:nvPr/>
        </p:nvSpPr>
        <p:spPr>
          <a:xfrm>
            <a:off x="8855075" y="2045295"/>
            <a:ext cx="2520950" cy="2216001"/>
          </a:xfrm>
          <a:prstGeom prst="roundRect">
            <a:avLst>
              <a:gd name="adj" fmla="val 4442"/>
            </a:avLst>
          </a:prstGeom>
          <a:solidFill>
            <a:srgbClr val="1B3829"/>
          </a:solidFill>
          <a:ln w="6350">
            <a:solidFill>
              <a:srgbClr val="2C5240"/>
            </a:solidFill>
            <a:prstDash val="solid"/>
          </a:ln>
        </p:spPr>
      </p:sp>
      <p:sp>
        <p:nvSpPr>
          <p:cNvPr id="17" name="Text 15"/>
          <p:cNvSpPr/>
          <p:nvPr/>
        </p:nvSpPr>
        <p:spPr>
          <a:xfrm>
            <a:off x="9061450" y="2251670"/>
            <a:ext cx="406400" cy="325090"/>
          </a:xfrm>
          <a:custGeom>
            <a:avLst/>
            <a:gdLst/>
            <a:ahLst/>
            <a:cxnLst/>
            <a:rect l="l" t="t" r="r" b="b"/>
            <a:pathLst>
              <a:path w="406400" h="325090">
                <a:moveTo>
                  <a:pt x="162545" y="0"/>
                </a:moveTo>
                <a:lnTo>
                  <a:pt x="243855" y="0"/>
                </a:lnTo>
                <a:arcTo wR="162545" hR="162545" stAng="16200000" swAng="5400000"/>
                <a:lnTo>
                  <a:pt x="406400" y="162545"/>
                </a:lnTo>
                <a:arcTo wR="162545" hR="162545" stAng="0" swAng="5400000"/>
                <a:lnTo>
                  <a:pt x="162545" y="325090"/>
                </a:lnTo>
                <a:arcTo wR="162545" hR="162545" stAng="5400000" swAng="5400000"/>
                <a:lnTo>
                  <a:pt x="0" y="162545"/>
                </a:lnTo>
                <a:arcTo wR="162545" hR="162545" stAng="10800000" swAng="5400000"/>
                <a:close/>
              </a:path>
            </a:pathLst>
          </a:custGeom>
          <a:solidFill>
            <a:srgbClr val="E0A43B"/>
          </a:solidFill>
          <a:ln/>
        </p:spPr>
        <p:txBody>
          <a:bodyPr wrap="square" lIns="88900" tIns="38100" rIns="88900" bIns="12700" rtlCol="0" anchor="t">
            <a:normAutofit/>
          </a:bodyPr>
          <a:lstStyle/>
          <a:p>
            <a:pPr marL="0" indent="0" algn="ctr">
              <a:lnSpc>
                <a:spcPts val="1960"/>
              </a:lnSpc>
              <a:buNone/>
            </a:pPr>
            <a:r>
              <a:rPr lang="en-US" sz="1400" b="1" dirty="0">
                <a:solidFill>
                  <a:srgbClr val="12261C"/>
                </a:solidFill>
                <a:latin typeface="Nunito Sans" pitchFamily="34" charset="0"/>
                <a:ea typeface="Nunito Sans" pitchFamily="34" charset="-122"/>
                <a:cs typeface="Nunito Sans" pitchFamily="34" charset="-120"/>
              </a:rPr>
              <a:t>4</a:t>
            </a:r>
            <a:endParaRPr lang="en-US" sz="1400" dirty="0"/>
          </a:p>
        </p:txBody>
      </p:sp>
      <p:sp>
        <p:nvSpPr>
          <p:cNvPr id="18" name="Text 16"/>
          <p:cNvSpPr/>
          <p:nvPr/>
        </p:nvSpPr>
        <p:spPr>
          <a:xfrm>
            <a:off x="9061450" y="2665661"/>
            <a:ext cx="217144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0A43B"/>
                </a:solidFill>
                <a:latin typeface="Rubik" pitchFamily="34" charset="0"/>
                <a:ea typeface="Rubik" pitchFamily="34" charset="-122"/>
                <a:cs typeface="Rubik" pitchFamily="34" charset="-120"/>
              </a:rPr>
              <a:t>Guidance</a:t>
            </a:r>
            <a:endParaRPr lang="en-US" sz="2000" dirty="0"/>
          </a:p>
        </p:txBody>
      </p:sp>
      <p:sp>
        <p:nvSpPr>
          <p:cNvPr id="19" name="Text 17"/>
          <p:cNvSpPr/>
          <p:nvPr/>
        </p:nvSpPr>
        <p:spPr>
          <a:xfrm>
            <a:off x="9061450" y="3059361"/>
            <a:ext cx="2171446" cy="1020961"/>
          </a:xfrm>
          <a:prstGeom prst="rect">
            <a:avLst/>
          </a:prstGeom>
          <a:noFill/>
          <a:ln/>
        </p:spPr>
        <p:txBody>
          <a:bodyPr wrap="square" lIns="0" tIns="0" rIns="0" bIns="0" rtlCol="0" anchor="t">
            <a:normAutofit/>
          </a:bodyPr>
          <a:lstStyle/>
          <a:p>
            <a:pPr marL="0" indent="0" algn="l">
              <a:lnSpc>
                <a:spcPts val="1960"/>
              </a:lnSpc>
              <a:buNone/>
            </a:pPr>
            <a:r>
              <a:rPr sz="1400" b="0" dirty="0"/>
              <a:t>Voice-enabled guidance in Urdu, English, Punjabi, Sindhi, Saraiki, Pashto, Balochi and Brahui</a:t>
            </a:r>
            <a:r>
              <a:rPr sz="1400" b="0" dirty="0">
                <a:solidFill>
                  <a:srgbClr val="202B24"/>
                </a:solidFill>
              </a:rPr>
              <a: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26052" y="46983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61C"/>
                </a:solidFill>
                <a:latin typeface="Rubik" pitchFamily="34" charset="0"/>
                <a:ea typeface="Rubik" pitchFamily="34" charset="-122"/>
                <a:cs typeface="Rubik" pitchFamily="34" charset="-120"/>
              </a:rPr>
              <a:t>How it works</a:t>
            </a:r>
            <a:endParaRPr lang="en-US" sz="3600" dirty="0"/>
          </a:p>
        </p:txBody>
      </p:sp>
      <p:graphicFrame>
        <p:nvGraphicFramePr>
          <p:cNvPr id="12" name="Table 0"/>
          <p:cNvGraphicFramePr>
            <a:graphicFrameLocks noGrp="1"/>
          </p:cNvGraphicFramePr>
          <p:nvPr>
            <p:extLst>
              <p:ext uri="{D42A27DB-BD31-4B8C-83A1-F6EECF244321}">
                <p14:modId xmlns:p14="http://schemas.microsoft.com/office/powerpoint/2010/main" val="3449348902"/>
              </p:ext>
            </p:extLst>
          </p:nvPr>
        </p:nvGraphicFramePr>
        <p:xfrm>
          <a:off x="579120" y="3828266"/>
          <a:ext cx="10553700" cy="1930055"/>
        </p:xfrm>
        <a:graphic>
          <a:graphicData uri="http://schemas.openxmlformats.org/drawingml/2006/table">
            <a:tbl>
              <a:tblPr/>
              <a:tblGrid>
                <a:gridCol w="1899666">
                  <a:extLst>
                    <a:ext uri="{9D8B030D-6E8A-4147-A177-3AD203B41FA5}">
                      <a16:colId xmlns:a16="http://schemas.microsoft.com/office/drawing/2014/main" val="20000"/>
                    </a:ext>
                  </a:extLst>
                </a:gridCol>
                <a:gridCol w="8654034">
                  <a:extLst>
                    <a:ext uri="{9D8B030D-6E8A-4147-A177-3AD203B41FA5}">
                      <a16:colId xmlns:a16="http://schemas.microsoft.com/office/drawing/2014/main" val="20001"/>
                    </a:ext>
                  </a:extLst>
                </a:gridCol>
              </a:tblGrid>
              <a:tr h="386011">
                <a:tc>
                  <a:txBody>
                    <a:bodyPr/>
                    <a:lstStyle/>
                    <a:p>
                      <a:pPr marL="0" indent="0">
                        <a:lnSpc>
                          <a:spcPts val="1960"/>
                        </a:lnSpc>
                        <a:buNone/>
                      </a:pPr>
                      <a:r>
                        <a:rPr lang="en-US" sz="1400" b="1" dirty="0">
                          <a:solidFill>
                            <a:srgbClr val="1B2A21"/>
                          </a:solidFill>
                          <a:latin typeface="Nunito Sans" pitchFamily="34" charset="0"/>
                          <a:ea typeface="Nunito Sans" pitchFamily="34" charset="-122"/>
                          <a:cs typeface="Nunito Sans" pitchFamily="34" charset="-120"/>
                        </a:rPr>
                        <a:t>Part</a:t>
                      </a:r>
                      <a:endParaRPr lang="en-US" sz="1400" dirty="0">
                        <a:latin typeface="Nunito Sans" charset="0"/>
                        <a:ea typeface="Nunito Sans" charset="0"/>
                        <a:cs typeface="Nunito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B6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6B4AD"/>
                      </a:solidFill>
                      <a:prstDash val="solid"/>
                      <a:round/>
                      <a:headEnd type="none" w="med" len="med"/>
                      <a:tailEnd type="none" w="med" len="med"/>
                    </a:lnB>
                    <a:solidFill>
                      <a:srgbClr val="E4E1D9"/>
                    </a:solidFill>
                  </a:tcPr>
                </a:tc>
                <a:tc>
                  <a:txBody>
                    <a:bodyPr/>
                    <a:lstStyle/>
                    <a:p>
                      <a:pPr marL="0" indent="0">
                        <a:lnSpc>
                          <a:spcPts val="1960"/>
                        </a:lnSpc>
                        <a:buNone/>
                      </a:pPr>
                      <a:r>
                        <a:rPr lang="en-US" sz="1400" b="1" dirty="0">
                          <a:solidFill>
                            <a:srgbClr val="1B2A21"/>
                          </a:solidFill>
                          <a:latin typeface="Nunito Sans" pitchFamily="34" charset="0"/>
                          <a:ea typeface="Nunito Sans" pitchFamily="34" charset="-122"/>
                          <a:cs typeface="Nunito Sans" pitchFamily="34" charset="-120"/>
                        </a:rPr>
                        <a:t>What it uses</a:t>
                      </a:r>
                      <a:endParaRPr lang="en-US" sz="1400" dirty="0">
                        <a:latin typeface="Nunito Sans" charset="0"/>
                        <a:ea typeface="Nunito Sans" charset="0"/>
                        <a:cs typeface="Nunito Sans" charset="0"/>
                      </a:endParaRPr>
                    </a:p>
                  </a:txBody>
                  <a:tcPr marL="62230" marR="62230" marT="62230" marB="62230">
                    <a:lnL w="12700" cap="flat" cmpd="sng" algn="ctr">
                      <a:solidFill>
                        <a:srgbClr val="B6B4AD"/>
                      </a:solidFill>
                      <a:prstDash val="solid"/>
                      <a:round/>
                      <a:headEnd type="none" w="med" len="med"/>
                      <a:tailEnd type="none" w="med" len="med"/>
                    </a:lnL>
                    <a:lnR w="12700" cap="flat" cmpd="sng" algn="ctr">
                      <a:solidFill>
                        <a:srgbClr val="B6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6B4AD"/>
                      </a:solidFill>
                      <a:prstDash val="solid"/>
                      <a:round/>
                      <a:headEnd type="none" w="med" len="med"/>
                      <a:tailEnd type="none" w="med" len="med"/>
                    </a:lnB>
                    <a:solidFill>
                      <a:srgbClr val="E4E1D9"/>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1B2A21"/>
                          </a:solidFill>
                          <a:latin typeface="Nunito Sans" pitchFamily="34" charset="0"/>
                          <a:ea typeface="Nunito Sans" pitchFamily="34" charset="-122"/>
                          <a:cs typeface="Nunito Sans" pitchFamily="34" charset="-120"/>
                        </a:rPr>
                        <a:t>Data</a:t>
                      </a:r>
                      <a:endParaRPr lang="en-US" sz="1400" dirty="0">
                        <a:latin typeface="Nunito Sans" charset="0"/>
                        <a:ea typeface="Nunito Sans" charset="0"/>
                        <a:cs typeface="Nunito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6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1960"/>
                        </a:lnSpc>
                        <a:buNone/>
                      </a:pPr>
                      <a:r>
                        <a:rPr lang="en-US" sz="1400" dirty="0">
                          <a:solidFill>
                            <a:srgbClr val="1B2A21"/>
                          </a:solidFill>
                          <a:latin typeface="Nunito Sans" pitchFamily="34" charset="0"/>
                          <a:ea typeface="Nunito Sans" pitchFamily="34" charset="-122"/>
                          <a:cs typeface="Nunito Sans" pitchFamily="34" charset="-120"/>
                        </a:rPr>
                        <a:t>Open-Meteo weather, river flow and air quality; leaf image datasets; yield and price tables</a:t>
                      </a:r>
                      <a:endParaRPr lang="en-US" sz="1400" dirty="0">
                        <a:latin typeface="Nunito Sans" charset="0"/>
                        <a:ea typeface="Nunito Sans" charset="0"/>
                        <a:cs typeface="Nunito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6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1B2A21"/>
                          </a:solidFill>
                          <a:latin typeface="Nunito Sans" pitchFamily="34" charset="0"/>
                          <a:ea typeface="Nunito Sans" pitchFamily="34" charset="-122"/>
                          <a:cs typeface="Nunito Sans" pitchFamily="34" charset="-120"/>
                        </a:rPr>
                        <a:t>AI</a:t>
                      </a:r>
                      <a:endParaRPr lang="en-US" sz="1400" dirty="0">
                        <a:latin typeface="Nunito Sans" charset="0"/>
                        <a:ea typeface="Nunito Sans" charset="0"/>
                        <a:cs typeface="Nunito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1960"/>
                        </a:lnSpc>
                        <a:buNone/>
                      </a:pPr>
                      <a:r>
                        <a:rPr lang="en-US" sz="1400" dirty="0">
                          <a:solidFill>
                            <a:srgbClr val="1B2A21"/>
                          </a:solidFill>
                          <a:latin typeface="Nunito Sans" pitchFamily="34" charset="0"/>
                          <a:ea typeface="Nunito Sans" pitchFamily="34" charset="-122"/>
                          <a:cs typeface="Nunito Sans" pitchFamily="34" charset="-120"/>
                        </a:rPr>
                        <a:t>Flood-risk model, leaf disease classifier, profit simulation, multilingual LLM advisor</a:t>
                      </a:r>
                      <a:endParaRPr lang="en-US" sz="1400" dirty="0">
                        <a:latin typeface="Nunito Sans" charset="0"/>
                        <a:ea typeface="Nunito Sans" charset="0"/>
                        <a:cs typeface="Nunito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1B2A21"/>
                          </a:solidFill>
                          <a:latin typeface="Nunito Sans" pitchFamily="34" charset="0"/>
                          <a:ea typeface="Nunito Sans" pitchFamily="34" charset="-122"/>
                          <a:cs typeface="Nunito Sans" pitchFamily="34" charset="-120"/>
                        </a:rPr>
                        <a:t>Rules</a:t>
                      </a:r>
                      <a:endParaRPr lang="en-US" sz="1400" dirty="0">
                        <a:latin typeface="Nunito Sans" charset="0"/>
                        <a:ea typeface="Nunito Sans" charset="0"/>
                        <a:cs typeface="Nunito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1960"/>
                        </a:lnSpc>
                        <a:buNone/>
                      </a:pPr>
                      <a:r>
                        <a:rPr lang="en-US" sz="1400" dirty="0">
                          <a:solidFill>
                            <a:srgbClr val="1B2A21"/>
                          </a:solidFill>
                          <a:latin typeface="Nunito Sans" pitchFamily="34" charset="0"/>
                          <a:ea typeface="Nunito Sans" pitchFamily="34" charset="-122"/>
                          <a:cs typeface="Nunito Sans" pitchFamily="34" charset="-120"/>
                        </a:rPr>
                        <a:t>Crop sensitivity and care plan from agricultural guidance (prototype tables)</a:t>
                      </a:r>
                      <a:endParaRPr lang="en-US" sz="1400" dirty="0">
                        <a:latin typeface="Nunito Sans" charset="0"/>
                        <a:ea typeface="Nunito Sans" charset="0"/>
                        <a:cs typeface="Nunito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B2A21"/>
                          </a:solidFill>
                          <a:latin typeface="Nunito Sans" pitchFamily="34" charset="0"/>
                          <a:ea typeface="Nunito Sans" pitchFamily="34" charset="-122"/>
                          <a:cs typeface="Nunito Sans" pitchFamily="34" charset="-120"/>
                        </a:rPr>
                        <a:t>Output</a:t>
                      </a:r>
                      <a:endParaRPr lang="en-US" sz="1400" dirty="0">
                        <a:latin typeface="Nunito Sans" charset="0"/>
                        <a:ea typeface="Nunito Sans" charset="0"/>
                        <a:cs typeface="Nunito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1960"/>
                        </a:lnSpc>
                        <a:buNone/>
                      </a:pPr>
                      <a:r>
                        <a:rPr lang="en-US" sz="1400" dirty="0">
                          <a:solidFill>
                            <a:srgbClr val="1B2A21"/>
                          </a:solidFill>
                          <a:latin typeface="Nunito Sans" pitchFamily="34" charset="0"/>
                          <a:ea typeface="Nunito Sans" pitchFamily="34" charset="-122"/>
                          <a:cs typeface="Nunito Sans" pitchFamily="34" charset="-120"/>
                        </a:rPr>
                        <a:t>Verdict, diagnosis, profit range and advice in the farmer's language</a:t>
                      </a:r>
                      <a:endParaRPr lang="en-US" sz="1400" dirty="0">
                        <a:latin typeface="Nunito Sans" charset="0"/>
                        <a:ea typeface="Nunito Sans" charset="0"/>
                        <a:cs typeface="Nunito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4" name="Rounded Rectangle 13"/>
          <p:cNvSpPr/>
          <p:nvPr/>
        </p:nvSpPr>
        <p:spPr>
          <a:xfrm>
            <a:off x="579120" y="1258459"/>
            <a:ext cx="1965960" cy="2331720"/>
          </a:xfrm>
          <a:prstGeom prst="roundRect">
            <a:avLst/>
          </a:prstGeom>
          <a:solidFill>
            <a:srgbClr val="EBF3EB"/>
          </a:solidFill>
          <a:ln>
            <a:solidFill>
              <a:srgbClr val="D2DED3"/>
            </a:solidFill>
          </a:ln>
        </p:spPr>
        <p:style>
          <a:lnRef idx="1">
            <a:schemeClr val="accent1"/>
          </a:lnRef>
          <a:fillRef idx="3">
            <a:schemeClr val="accent1"/>
          </a:fillRef>
          <a:effectRef idx="2">
            <a:schemeClr val="accent1"/>
          </a:effectRef>
          <a:fontRef idx="minor">
            <a:schemeClr val="lt1"/>
          </a:fontRef>
        </p:style>
        <p:txBody>
          <a:bodyPr wrap="square" lIns="109728" tIns="164592" rIns="109728" bIns="91440" rtlCol="0" anchor="ctr"/>
          <a:lstStyle/>
          <a:p>
            <a:pPr algn="ctr">
              <a:spcAft>
                <a:spcPts val="1000"/>
              </a:spcAft>
            </a:pPr>
            <a:r>
              <a:rPr sz="1300" b="1">
                <a:solidFill>
                  <a:srgbClr val="1F5E3D"/>
                </a:solidFill>
                <a:latin typeface="Aptos Display"/>
              </a:rPr>
              <a:t>1  PROBLEM</a:t>
            </a:r>
          </a:p>
          <a:p>
            <a:pPr>
              <a:spcAft>
                <a:spcPts val="0"/>
              </a:spcAft>
            </a:pPr>
            <a:r>
              <a:rPr sz="1100">
                <a:solidFill>
                  <a:srgbClr val="202B24"/>
                </a:solidFill>
                <a:latin typeface="Aptos"/>
              </a:rPr>
              <a:t>Farmer selects district, crop and land area.</a:t>
            </a:r>
          </a:p>
        </p:txBody>
      </p:sp>
      <p:sp>
        <p:nvSpPr>
          <p:cNvPr id="15" name="Rounded Rectangle 14"/>
          <p:cNvSpPr/>
          <p:nvPr/>
        </p:nvSpPr>
        <p:spPr>
          <a:xfrm>
            <a:off x="2743200" y="1271159"/>
            <a:ext cx="1965960" cy="2331720"/>
          </a:xfrm>
          <a:prstGeom prst="roundRect">
            <a:avLst/>
          </a:prstGeom>
          <a:solidFill>
            <a:srgbClr val="F5F7F3"/>
          </a:solidFill>
          <a:ln>
            <a:solidFill>
              <a:srgbClr val="D2DED3"/>
            </a:solidFill>
          </a:ln>
        </p:spPr>
        <p:style>
          <a:lnRef idx="1">
            <a:schemeClr val="accent1"/>
          </a:lnRef>
          <a:fillRef idx="3">
            <a:schemeClr val="accent1"/>
          </a:fillRef>
          <a:effectRef idx="2">
            <a:schemeClr val="accent1"/>
          </a:effectRef>
          <a:fontRef idx="minor">
            <a:schemeClr val="lt1"/>
          </a:fontRef>
        </p:style>
        <p:txBody>
          <a:bodyPr wrap="square" lIns="109728" tIns="164592" rIns="109728" bIns="91440" rtlCol="0" anchor="ctr"/>
          <a:lstStyle/>
          <a:p>
            <a:pPr algn="ctr">
              <a:spcAft>
                <a:spcPts val="1000"/>
              </a:spcAft>
            </a:pPr>
            <a:r>
              <a:rPr sz="1300" b="1">
                <a:solidFill>
                  <a:srgbClr val="1F5E3D"/>
                </a:solidFill>
                <a:latin typeface="Aptos Display"/>
              </a:rPr>
              <a:t>2  DATA</a:t>
            </a:r>
          </a:p>
          <a:p>
            <a:pPr>
              <a:spcAft>
                <a:spcPts val="0"/>
              </a:spcAft>
            </a:pPr>
            <a:r>
              <a:rPr sz="1100">
                <a:solidFill>
                  <a:srgbClr val="202B24"/>
                </a:solidFill>
                <a:latin typeface="Aptos"/>
              </a:rPr>
              <a:t>Open-Meteo weather, air quality and river discharge; prototype crop and cost tables.</a:t>
            </a:r>
          </a:p>
        </p:txBody>
      </p:sp>
      <p:sp>
        <p:nvSpPr>
          <p:cNvPr id="16" name="Rounded Rectangle 15"/>
          <p:cNvSpPr/>
          <p:nvPr/>
        </p:nvSpPr>
        <p:spPr>
          <a:xfrm>
            <a:off x="4968241" y="1258459"/>
            <a:ext cx="1965960" cy="2331720"/>
          </a:xfrm>
          <a:prstGeom prst="roundRect">
            <a:avLst/>
          </a:prstGeom>
          <a:solidFill>
            <a:srgbClr val="EBF3EB"/>
          </a:solidFill>
          <a:ln>
            <a:solidFill>
              <a:srgbClr val="D2DED3"/>
            </a:solidFill>
          </a:ln>
        </p:spPr>
        <p:style>
          <a:lnRef idx="1">
            <a:schemeClr val="accent1"/>
          </a:lnRef>
          <a:fillRef idx="3">
            <a:schemeClr val="accent1"/>
          </a:fillRef>
          <a:effectRef idx="2">
            <a:schemeClr val="accent1"/>
          </a:effectRef>
          <a:fontRef idx="minor">
            <a:schemeClr val="lt1"/>
          </a:fontRef>
        </p:style>
        <p:txBody>
          <a:bodyPr wrap="square" lIns="109728" tIns="164592" rIns="109728" bIns="91440" rtlCol="0" anchor="ctr"/>
          <a:lstStyle/>
          <a:p>
            <a:pPr algn="ctr">
              <a:spcAft>
                <a:spcPts val="1000"/>
              </a:spcAft>
            </a:pPr>
            <a:r>
              <a:rPr sz="1300" b="1">
                <a:solidFill>
                  <a:srgbClr val="1F5E3D"/>
                </a:solidFill>
                <a:latin typeface="Aptos Display"/>
              </a:rPr>
              <a:t>3  AI + RULES</a:t>
            </a:r>
          </a:p>
          <a:p>
            <a:pPr>
              <a:spcAft>
                <a:spcPts val="0"/>
              </a:spcAft>
            </a:pPr>
            <a:r>
              <a:rPr sz="1100">
                <a:solidFill>
                  <a:srgbClr val="202B24"/>
                </a:solidFill>
                <a:latin typeface="Aptos"/>
              </a:rPr>
              <a:t>Feasibility signals, leaf issue diagnosis, Monte Carlo profit simulation and LLM guidance.</a:t>
            </a:r>
          </a:p>
        </p:txBody>
      </p:sp>
      <p:sp>
        <p:nvSpPr>
          <p:cNvPr id="17" name="Rounded Rectangle 16"/>
          <p:cNvSpPr/>
          <p:nvPr/>
        </p:nvSpPr>
        <p:spPr>
          <a:xfrm>
            <a:off x="7216140" y="1271159"/>
            <a:ext cx="1965960" cy="2331720"/>
          </a:xfrm>
          <a:prstGeom prst="roundRect">
            <a:avLst/>
          </a:prstGeom>
          <a:solidFill>
            <a:srgbClr val="F5F7F3"/>
          </a:solidFill>
          <a:ln>
            <a:solidFill>
              <a:srgbClr val="D2DED3"/>
            </a:solidFill>
          </a:ln>
        </p:spPr>
        <p:style>
          <a:lnRef idx="1">
            <a:schemeClr val="accent1"/>
          </a:lnRef>
          <a:fillRef idx="3">
            <a:schemeClr val="accent1"/>
          </a:fillRef>
          <a:effectRef idx="2">
            <a:schemeClr val="accent1"/>
          </a:effectRef>
          <a:fontRef idx="minor">
            <a:schemeClr val="lt1"/>
          </a:fontRef>
        </p:style>
        <p:txBody>
          <a:bodyPr wrap="square" lIns="109728" tIns="164592" rIns="109728" bIns="91440" rtlCol="0" anchor="ctr"/>
          <a:lstStyle/>
          <a:p>
            <a:pPr algn="ctr">
              <a:spcAft>
                <a:spcPts val="1000"/>
              </a:spcAft>
            </a:pPr>
            <a:r>
              <a:rPr sz="1300" b="1">
                <a:solidFill>
                  <a:srgbClr val="1F5E3D"/>
                </a:solidFill>
                <a:latin typeface="Aptos Display"/>
              </a:rPr>
              <a:t>4  ADVICE</a:t>
            </a:r>
          </a:p>
          <a:p>
            <a:pPr>
              <a:spcAft>
                <a:spcPts val="0"/>
              </a:spcAft>
            </a:pPr>
            <a:r>
              <a:rPr sz="1100">
                <a:solidFill>
                  <a:srgbClr val="202B24"/>
                </a:solidFill>
                <a:latin typeface="Aptos"/>
              </a:rPr>
              <a:t>Land verdict, crop-care guidance, profit distribution and chance of loss.</a:t>
            </a:r>
          </a:p>
        </p:txBody>
      </p:sp>
      <p:sp>
        <p:nvSpPr>
          <p:cNvPr id="18" name="Rounded Rectangle 17"/>
          <p:cNvSpPr/>
          <p:nvPr/>
        </p:nvSpPr>
        <p:spPr>
          <a:xfrm>
            <a:off x="9441181" y="1223507"/>
            <a:ext cx="2148840" cy="2331720"/>
          </a:xfrm>
          <a:prstGeom prst="roundRect">
            <a:avLst/>
          </a:prstGeom>
          <a:solidFill>
            <a:srgbClr val="EBF3EB"/>
          </a:solidFill>
          <a:ln>
            <a:solidFill>
              <a:srgbClr val="D2DED3"/>
            </a:solidFill>
          </a:ln>
        </p:spPr>
        <p:style>
          <a:lnRef idx="1">
            <a:schemeClr val="accent1"/>
          </a:lnRef>
          <a:fillRef idx="3">
            <a:schemeClr val="accent1"/>
          </a:fillRef>
          <a:effectRef idx="2">
            <a:schemeClr val="accent1"/>
          </a:effectRef>
          <a:fontRef idx="minor">
            <a:schemeClr val="lt1"/>
          </a:fontRef>
        </p:style>
        <p:txBody>
          <a:bodyPr wrap="square" lIns="109728" tIns="164592" rIns="109728" bIns="91440" rtlCol="0" anchor="ctr"/>
          <a:lstStyle/>
          <a:p>
            <a:pPr algn="ctr">
              <a:spcAft>
                <a:spcPts val="1000"/>
              </a:spcAft>
            </a:pPr>
            <a:r>
              <a:rPr sz="1300" b="1">
                <a:solidFill>
                  <a:srgbClr val="1F5E3D"/>
                </a:solidFill>
                <a:latin typeface="Aptos Display"/>
              </a:rPr>
              <a:t>5  IMPACT</a:t>
            </a:r>
          </a:p>
          <a:p>
            <a:pPr>
              <a:spcAft>
                <a:spcPts val="0"/>
              </a:spcAft>
            </a:pPr>
            <a:r>
              <a:rPr sz="1100">
                <a:solidFill>
                  <a:srgbClr val="202B24"/>
                </a:solidFill>
                <a:latin typeface="Aptos"/>
              </a:rPr>
              <a:t>Earlier decisions, more informed input use and clearer price discussions.</a:t>
            </a:r>
          </a:p>
        </p:txBody>
      </p:sp>
      <p:sp>
        <p:nvSpPr>
          <p:cNvPr id="19" name="TextBox 18"/>
          <p:cNvSpPr txBox="1"/>
          <p:nvPr/>
        </p:nvSpPr>
        <p:spPr>
          <a:xfrm>
            <a:off x="591820" y="5996408"/>
            <a:ext cx="10698480" cy="685800"/>
          </a:xfrm>
          <a:prstGeom prst="rect">
            <a:avLst/>
          </a:prstGeom>
          <a:noFill/>
        </p:spPr>
        <p:txBody>
          <a:bodyPr wrap="square" lIns="73152" rIns="73152" bIns="36576">
            <a:spAutoFit/>
          </a:bodyPr>
          <a:lstStyle/>
          <a:p>
            <a:r>
              <a:rPr sz="1300" b="0" dirty="0">
                <a:solidFill>
                  <a:srgbClr val="5B695F"/>
                </a:solidFill>
                <a:latin typeface="Aptos"/>
              </a:rPr>
              <a:t>Built with Python, Google </a:t>
            </a:r>
            <a:r>
              <a:rPr sz="1300" b="0" dirty="0" err="1">
                <a:solidFill>
                  <a:srgbClr val="5B695F"/>
                </a:solidFill>
                <a:latin typeface="Aptos"/>
              </a:rPr>
              <a:t>Colab</a:t>
            </a:r>
            <a:r>
              <a:rPr sz="1300" b="0" dirty="0">
                <a:solidFill>
                  <a:srgbClr val="5B695F"/>
                </a:solidFill>
                <a:latin typeface="Aptos"/>
              </a:rPr>
              <a:t> and </a:t>
            </a:r>
            <a:r>
              <a:rPr sz="1300" b="0" dirty="0" err="1">
                <a:solidFill>
                  <a:srgbClr val="5B695F"/>
                </a:solidFill>
                <a:latin typeface="Aptos"/>
              </a:rPr>
              <a:t>Gradio</a:t>
            </a:r>
            <a:r>
              <a:rPr sz="1300" b="0" dirty="0">
                <a:solidFill>
                  <a:srgbClr val="5B695F"/>
                </a:solidFill>
                <a:latin typeface="Aptos"/>
              </a:rPr>
              <a:t>. Open-</a:t>
            </a:r>
            <a:r>
              <a:rPr sz="1300" b="0" dirty="0" err="1">
                <a:solidFill>
                  <a:srgbClr val="5B695F"/>
                </a:solidFill>
                <a:latin typeface="Aptos"/>
              </a:rPr>
              <a:t>Meteo</a:t>
            </a:r>
            <a:r>
              <a:rPr sz="1300" b="0" dirty="0">
                <a:solidFill>
                  <a:srgbClr val="5B695F"/>
                </a:solidFill>
                <a:latin typeface="Aptos"/>
              </a:rPr>
              <a:t> supplies live environmental signals; voice output uses </a:t>
            </a:r>
            <a:r>
              <a:rPr sz="1300" b="0" dirty="0" err="1">
                <a:solidFill>
                  <a:srgbClr val="5B695F"/>
                </a:solidFill>
                <a:latin typeface="Aptos"/>
              </a:rPr>
              <a:t>gTTS</a:t>
            </a:r>
            <a:r>
              <a:rPr sz="1300" b="0" dirty="0">
                <a:solidFill>
                  <a:srgbClr val="5B695F"/>
                </a:solidFill>
                <a:latin typeface="Aptos"/>
              </a:rPr>
              <a:t> / edge-</a:t>
            </a:r>
            <a:r>
              <a:rPr sz="1300" b="0" dirty="0" err="1">
                <a:solidFill>
                  <a:srgbClr val="5B695F"/>
                </a:solidFill>
                <a:latin typeface="Aptos"/>
              </a:rPr>
              <a:t>tts</a:t>
            </a:r>
            <a:r>
              <a:rPr sz="1300" b="0" dirty="0">
                <a:solidFill>
                  <a:srgbClr val="5B695F"/>
                </a:solidFill>
                <a:latin typeface="Aptos"/>
              </a:rPr>
              <a:t>, with an LLM API for chat and translation.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61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3EA"/>
                </a:solidFill>
                <a:latin typeface="Rubik" pitchFamily="34" charset="0"/>
                <a:ea typeface="Rubik" pitchFamily="34" charset="-122"/>
                <a:cs typeface="Rubik" pitchFamily="34" charset="-120"/>
              </a:rPr>
              <a:t>The MVP</a:t>
            </a:r>
            <a:endParaRPr lang="en-US" sz="3600" dirty="0"/>
          </a:p>
        </p:txBody>
      </p:sp>
      <p:sp>
        <p:nvSpPr>
          <p:cNvPr id="6" name="Text 4"/>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C5"/>
                </a:solidFill>
                <a:latin typeface="Nunito Sans" pitchFamily="34" charset="0"/>
                <a:ea typeface="Nunito Sans" pitchFamily="34" charset="-122"/>
                <a:cs typeface="Nunito Sans" pitchFamily="34" charset="-120"/>
              </a:rPr>
              <a:t>Kisan AI</a:t>
            </a:r>
            <a:endParaRPr lang="en-US" sz="1200" dirty="0"/>
          </a:p>
        </p:txBody>
      </p:sp>
      <p:sp>
        <p:nvSpPr>
          <p:cNvPr id="8" name="TextBox 7">
            <a:extLst>
              <a:ext uri="{FF2B5EF4-FFF2-40B4-BE49-F238E27FC236}">
                <a16:creationId xmlns:a16="http://schemas.microsoft.com/office/drawing/2014/main" id="{66938082-418E-48C8-8C4E-4D15698A9796}"/>
              </a:ext>
            </a:extLst>
          </p:cNvPr>
          <p:cNvSpPr txBox="1"/>
          <p:nvPr/>
        </p:nvSpPr>
        <p:spPr>
          <a:xfrm>
            <a:off x="753386" y="2818738"/>
            <a:ext cx="10515600" cy="698653"/>
          </a:xfrm>
          <a:prstGeom prst="rect">
            <a:avLst/>
          </a:prstGeom>
          <a:noFill/>
        </p:spPr>
        <p:txBody>
          <a:bodyPr wrap="square" lIns="73152" rIns="73152" bIns="36576">
            <a:spAutoFit/>
          </a:bodyPr>
          <a:lstStyle/>
          <a:p>
            <a:r>
              <a:rPr sz="2000" b="0" dirty="0">
                <a:solidFill>
                  <a:srgbClr val="5B695F"/>
                </a:solidFill>
                <a:latin typeface="Aptos"/>
                <a:hlinkClick r:id="rId3"/>
              </a:rPr>
              <a:t>Project repository: github.com/tooba75/</a:t>
            </a:r>
            <a:r>
              <a:rPr sz="2000" b="0" dirty="0" err="1">
                <a:solidFill>
                  <a:srgbClr val="5B695F"/>
                </a:solidFill>
                <a:latin typeface="Aptos"/>
                <a:hlinkClick r:id="rId3"/>
              </a:rPr>
              <a:t>Kisan_Sahulat</a:t>
            </a:r>
            <a:r>
              <a:rPr sz="2000" b="0" dirty="0">
                <a:solidFill>
                  <a:srgbClr val="5B695F"/>
                </a:solidFill>
                <a:latin typeface="Aptos"/>
                <a:hlinkClick r:id="rId3"/>
              </a:rPr>
              <a:t>   </a:t>
            </a:r>
            <a:endParaRPr lang="en-US" sz="2000" b="0" dirty="0">
              <a:solidFill>
                <a:srgbClr val="5B695F"/>
              </a:solidFill>
              <a:latin typeface="Aptos"/>
              <a:hlinkClick r:id="rId3"/>
            </a:endParaRPr>
          </a:p>
          <a:p>
            <a:r>
              <a:rPr sz="2000" b="0" dirty="0">
                <a:solidFill>
                  <a:srgbClr val="5B695F"/>
                </a:solidFill>
                <a:latin typeface="Aptos"/>
                <a:hlinkClick r:id="rId3"/>
              </a:rPr>
              <a:t> Live prototype: c4f882605bd326a00b.gradio.live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61C"/>
                </a:solidFill>
                <a:latin typeface="Rubik" pitchFamily="34" charset="0"/>
                <a:ea typeface="Rubik" pitchFamily="34" charset="-122"/>
                <a:cs typeface="Rubik" pitchFamily="34" charset="-120"/>
              </a:rPr>
              <a:t>Results</a:t>
            </a:r>
            <a:endParaRPr lang="en-US" sz="3600" dirty="0"/>
          </a:p>
        </p:txBody>
      </p:sp>
      <p:sp>
        <p:nvSpPr>
          <p:cNvPr id="3" name="Text 1"/>
          <p:cNvSpPr/>
          <p:nvPr/>
        </p:nvSpPr>
        <p:spPr>
          <a:xfrm>
            <a:off x="812800" y="1417290"/>
            <a:ext cx="10883392" cy="345430"/>
          </a:xfrm>
          <a:prstGeom prst="rect">
            <a:avLst/>
          </a:prstGeom>
          <a:noFill/>
          <a:ln/>
        </p:spPr>
        <p:txBody>
          <a:bodyPr wrap="square" lIns="0" tIns="0" rIns="0" bIns="0" rtlCol="0" anchor="t">
            <a:normAutofit/>
          </a:bodyPr>
          <a:lstStyle/>
          <a:p>
            <a:pPr marL="0" indent="0" algn="l">
              <a:lnSpc>
                <a:spcPts val="2520"/>
              </a:lnSpc>
              <a:buNone/>
            </a:pPr>
            <a:r>
              <a:rPr sz="1400" b="0">
                <a:solidFill>
                  <a:srgbClr val="5B695F"/>
                </a:solidFill>
              </a:rPr>
              <a:t>Sample outputs recorded in the repository’s test_summary.csv (simulated estimates, not guarantees).</a:t>
            </a:r>
            <a:endParaRPr lang="en-US" sz="1800" dirty="0"/>
          </a:p>
        </p:txBody>
      </p:sp>
      <p:sp>
        <p:nvSpPr>
          <p:cNvPr id="4" name="Shape 2"/>
          <p:cNvSpPr/>
          <p:nvPr/>
        </p:nvSpPr>
        <p:spPr>
          <a:xfrm>
            <a:off x="815975" y="2045295"/>
            <a:ext cx="3414167" cy="1819870"/>
          </a:xfrm>
          <a:prstGeom prst="roundRect">
            <a:avLst>
              <a:gd name="adj" fmla="val 5408"/>
            </a:avLst>
          </a:prstGeom>
          <a:solidFill>
            <a:srgbClr val="FFFDF8"/>
          </a:solidFill>
          <a:ln w="6350">
            <a:solidFill>
              <a:srgbClr val="DDD6C3"/>
            </a:solidFill>
            <a:prstDash val="solid"/>
          </a:ln>
        </p:spPr>
      </p:sp>
      <p:sp>
        <p:nvSpPr>
          <p:cNvPr id="5" name="Text 3"/>
          <p:cNvSpPr/>
          <p:nvPr/>
        </p:nvSpPr>
        <p:spPr>
          <a:xfrm>
            <a:off x="1073150" y="2302470"/>
            <a:ext cx="2986811" cy="695920"/>
          </a:xfrm>
          <a:prstGeom prst="rect">
            <a:avLst/>
          </a:prstGeom>
          <a:noFill/>
          <a:ln/>
        </p:spPr>
        <p:txBody>
          <a:bodyPr wrap="square" lIns="0" tIns="0" rIns="0" bIns="0" rtlCol="0" anchor="t">
            <a:normAutofit/>
          </a:bodyPr>
          <a:lstStyle/>
          <a:p>
            <a:pPr marL="0" indent="0" algn="l">
              <a:lnSpc>
                <a:spcPts val="5280"/>
              </a:lnSpc>
              <a:buNone/>
            </a:pPr>
            <a:r>
              <a:rPr sz="2500" b="1">
                <a:solidFill>
                  <a:srgbClr val="1F5E3D"/>
                </a:solidFill>
              </a:rPr>
              <a:t>PKR 114,648</a:t>
            </a:r>
            <a:endParaRPr lang="en-US" sz="4800" dirty="0"/>
          </a:p>
        </p:txBody>
      </p:sp>
      <p:sp>
        <p:nvSpPr>
          <p:cNvPr id="6" name="Text 4"/>
          <p:cNvSpPr/>
          <p:nvPr/>
        </p:nvSpPr>
        <p:spPr>
          <a:xfrm>
            <a:off x="1073150" y="3074591"/>
            <a:ext cx="2986811" cy="558800"/>
          </a:xfrm>
          <a:prstGeom prst="rect">
            <a:avLst/>
          </a:prstGeom>
          <a:noFill/>
          <a:ln/>
        </p:spPr>
        <p:txBody>
          <a:bodyPr wrap="square" lIns="0" tIns="0" rIns="0" bIns="0" rtlCol="0" anchor="t">
            <a:noAutofit/>
          </a:bodyPr>
          <a:lstStyle/>
          <a:p>
            <a:pPr marL="0" indent="0" algn="l">
              <a:lnSpc>
                <a:spcPts val="2100"/>
              </a:lnSpc>
              <a:buNone/>
            </a:pPr>
            <a:r>
              <a:rPr sz="900" b="0" dirty="0">
                <a:solidFill>
                  <a:srgbClr val="202B24"/>
                </a:solidFill>
              </a:rPr>
              <a:t>Median profit estimate</a:t>
            </a:r>
            <a:br>
              <a:rPr sz="1000" dirty="0"/>
            </a:br>
            <a:r>
              <a:rPr sz="900" b="0" dirty="0">
                <a:solidFill>
                  <a:srgbClr val="202B24"/>
                </a:solidFill>
              </a:rPr>
              <a:t>Sahiwal • Wheat • 5 acres</a:t>
            </a:r>
            <a:br>
              <a:rPr sz="1000" dirty="0"/>
            </a:br>
            <a:r>
              <a:rPr sz="900" b="0" dirty="0">
                <a:solidFill>
                  <a:srgbClr val="202B24"/>
                </a:solidFill>
              </a:rPr>
              <a:t>Chance of loss: 4.7%</a:t>
            </a:r>
            <a:endParaRPr lang="en-US" sz="900" dirty="0"/>
          </a:p>
        </p:txBody>
      </p:sp>
      <p:sp>
        <p:nvSpPr>
          <p:cNvPr id="7" name="Shape 5"/>
          <p:cNvSpPr/>
          <p:nvPr/>
        </p:nvSpPr>
        <p:spPr>
          <a:xfrm>
            <a:off x="4388892" y="2045295"/>
            <a:ext cx="3414216" cy="1819870"/>
          </a:xfrm>
          <a:prstGeom prst="roundRect">
            <a:avLst>
              <a:gd name="adj" fmla="val 5408"/>
            </a:avLst>
          </a:prstGeom>
          <a:solidFill>
            <a:srgbClr val="FFFDF8"/>
          </a:solidFill>
          <a:ln w="6350">
            <a:solidFill>
              <a:srgbClr val="DDD6C3"/>
            </a:solidFill>
            <a:prstDash val="solid"/>
          </a:ln>
        </p:spPr>
      </p:sp>
      <p:sp>
        <p:nvSpPr>
          <p:cNvPr id="8" name="Text 6"/>
          <p:cNvSpPr/>
          <p:nvPr/>
        </p:nvSpPr>
        <p:spPr>
          <a:xfrm>
            <a:off x="4646067" y="2302470"/>
            <a:ext cx="2986862" cy="695920"/>
          </a:xfrm>
          <a:prstGeom prst="rect">
            <a:avLst/>
          </a:prstGeom>
          <a:noFill/>
          <a:ln/>
        </p:spPr>
        <p:txBody>
          <a:bodyPr wrap="square" lIns="0" tIns="0" rIns="0" bIns="0" rtlCol="0" anchor="t">
            <a:normAutofit/>
          </a:bodyPr>
          <a:lstStyle/>
          <a:p>
            <a:pPr marL="0" indent="0" algn="l">
              <a:lnSpc>
                <a:spcPts val="5280"/>
              </a:lnSpc>
              <a:buNone/>
            </a:pPr>
            <a:r>
              <a:rPr sz="2500" b="1">
                <a:solidFill>
                  <a:srgbClr val="1F5E3D"/>
                </a:solidFill>
              </a:rPr>
              <a:t>PKR 290,752</a:t>
            </a:r>
            <a:endParaRPr lang="en-US" sz="4800" dirty="0"/>
          </a:p>
        </p:txBody>
      </p:sp>
      <p:sp>
        <p:nvSpPr>
          <p:cNvPr id="9" name="Text 7"/>
          <p:cNvSpPr/>
          <p:nvPr/>
        </p:nvSpPr>
        <p:spPr>
          <a:xfrm>
            <a:off x="4646067" y="3074591"/>
            <a:ext cx="2986862" cy="558800"/>
          </a:xfrm>
          <a:prstGeom prst="rect">
            <a:avLst/>
          </a:prstGeom>
          <a:noFill/>
          <a:ln/>
        </p:spPr>
        <p:txBody>
          <a:bodyPr wrap="square" lIns="0" tIns="0" rIns="0" bIns="0" rtlCol="0" anchor="t">
            <a:noAutofit/>
          </a:bodyPr>
          <a:lstStyle/>
          <a:p>
            <a:pPr marL="0" indent="0" algn="l">
              <a:lnSpc>
                <a:spcPts val="2100"/>
              </a:lnSpc>
              <a:buNone/>
            </a:pPr>
            <a:r>
              <a:rPr sz="800" b="0" dirty="0">
                <a:solidFill>
                  <a:srgbClr val="202B24"/>
                </a:solidFill>
              </a:rPr>
              <a:t>Median profit estimate</a:t>
            </a:r>
            <a:br>
              <a:rPr sz="900" dirty="0"/>
            </a:br>
            <a:r>
              <a:rPr sz="800" b="0" dirty="0">
                <a:solidFill>
                  <a:srgbClr val="202B24"/>
                </a:solidFill>
              </a:rPr>
              <a:t>Multan • Cotton • 5 acres</a:t>
            </a:r>
            <a:br>
              <a:rPr sz="900" dirty="0"/>
            </a:br>
            <a:r>
              <a:rPr sz="800" b="0" dirty="0">
                <a:solidFill>
                  <a:srgbClr val="202B24"/>
                </a:solidFill>
              </a:rPr>
              <a:t>Chance of loss: 0.2%</a:t>
            </a:r>
            <a:endParaRPr lang="en-US" sz="800" dirty="0"/>
          </a:p>
        </p:txBody>
      </p:sp>
      <p:sp>
        <p:nvSpPr>
          <p:cNvPr id="10" name="Shape 8"/>
          <p:cNvSpPr/>
          <p:nvPr/>
        </p:nvSpPr>
        <p:spPr>
          <a:xfrm>
            <a:off x="7961858" y="2045295"/>
            <a:ext cx="3414167" cy="1819870"/>
          </a:xfrm>
          <a:prstGeom prst="roundRect">
            <a:avLst>
              <a:gd name="adj" fmla="val 5408"/>
            </a:avLst>
          </a:prstGeom>
          <a:solidFill>
            <a:srgbClr val="FFFDF8"/>
          </a:solidFill>
          <a:ln w="6350">
            <a:solidFill>
              <a:srgbClr val="DDD6C3"/>
            </a:solidFill>
            <a:prstDash val="solid"/>
          </a:ln>
        </p:spPr>
      </p:sp>
      <p:sp>
        <p:nvSpPr>
          <p:cNvPr id="11" name="Text 9"/>
          <p:cNvSpPr/>
          <p:nvPr/>
        </p:nvSpPr>
        <p:spPr>
          <a:xfrm>
            <a:off x="8219033" y="2302470"/>
            <a:ext cx="2986811" cy="695920"/>
          </a:xfrm>
          <a:prstGeom prst="rect">
            <a:avLst/>
          </a:prstGeom>
          <a:noFill/>
          <a:ln/>
        </p:spPr>
        <p:txBody>
          <a:bodyPr wrap="square" lIns="0" tIns="0" rIns="0" bIns="0" rtlCol="0" anchor="t">
            <a:normAutofit/>
          </a:bodyPr>
          <a:lstStyle/>
          <a:p>
            <a:pPr marL="0" indent="0" algn="l">
              <a:lnSpc>
                <a:spcPts val="5280"/>
              </a:lnSpc>
              <a:buNone/>
            </a:pPr>
            <a:r>
              <a:rPr sz="2500" b="1">
                <a:solidFill>
                  <a:srgbClr val="1F5E3D"/>
                </a:solidFill>
              </a:rPr>
              <a:t>PKR 326,811</a:t>
            </a:r>
            <a:endParaRPr lang="en-US" sz="4800" dirty="0"/>
          </a:p>
        </p:txBody>
      </p:sp>
      <p:sp>
        <p:nvSpPr>
          <p:cNvPr id="12" name="Text 10"/>
          <p:cNvSpPr/>
          <p:nvPr/>
        </p:nvSpPr>
        <p:spPr>
          <a:xfrm>
            <a:off x="8219033" y="3074591"/>
            <a:ext cx="2986811" cy="558800"/>
          </a:xfrm>
          <a:prstGeom prst="rect">
            <a:avLst/>
          </a:prstGeom>
          <a:noFill/>
          <a:ln/>
        </p:spPr>
        <p:txBody>
          <a:bodyPr wrap="square" lIns="0" tIns="0" rIns="0" bIns="0" rtlCol="0" anchor="t">
            <a:noAutofit/>
          </a:bodyPr>
          <a:lstStyle/>
          <a:p>
            <a:pPr marL="0" indent="0" algn="l">
              <a:lnSpc>
                <a:spcPts val="2100"/>
              </a:lnSpc>
              <a:buNone/>
            </a:pPr>
            <a:r>
              <a:rPr sz="800" b="0" dirty="0">
                <a:solidFill>
                  <a:srgbClr val="202B24"/>
                </a:solidFill>
              </a:rPr>
              <a:t>Median profit estimate</a:t>
            </a:r>
            <a:br>
              <a:rPr sz="900" dirty="0"/>
            </a:br>
            <a:r>
              <a:rPr sz="800" b="0" dirty="0">
                <a:solidFill>
                  <a:srgbClr val="202B24"/>
                </a:solidFill>
              </a:rPr>
              <a:t>Badin • Rice • 5 acres</a:t>
            </a:r>
            <a:br>
              <a:rPr sz="900" dirty="0"/>
            </a:br>
            <a:r>
              <a:rPr sz="800" b="0" dirty="0">
                <a:solidFill>
                  <a:srgbClr val="202B24"/>
                </a:solidFill>
              </a:rPr>
              <a:t>Chance of loss: 0.0%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61C"/>
                </a:solidFill>
                <a:latin typeface="Rubik" pitchFamily="34" charset="0"/>
                <a:ea typeface="Rubik" pitchFamily="34" charset="-122"/>
                <a:cs typeface="Rubik" pitchFamily="34" charset="-120"/>
              </a:rPr>
              <a:t>Impact and limits</a:t>
            </a:r>
            <a:endParaRPr lang="en-US" sz="3600" dirty="0"/>
          </a:p>
        </p:txBody>
      </p:sp>
      <p:sp>
        <p:nvSpPr>
          <p:cNvPr id="3" name="Shape 1"/>
          <p:cNvSpPr/>
          <p:nvPr/>
        </p:nvSpPr>
        <p:spPr>
          <a:xfrm>
            <a:off x="815975" y="1572865"/>
            <a:ext cx="5200650" cy="2520950"/>
          </a:xfrm>
          <a:prstGeom prst="roundRect">
            <a:avLst>
              <a:gd name="adj" fmla="val 3904"/>
            </a:avLst>
          </a:prstGeom>
          <a:solidFill>
            <a:srgbClr val="FFFDF8"/>
          </a:solidFill>
          <a:ln w="6350">
            <a:solidFill>
              <a:srgbClr val="DDD6C3"/>
            </a:solidFill>
            <a:prstDash val="solid"/>
          </a:ln>
        </p:spPr>
      </p:sp>
      <p:sp>
        <p:nvSpPr>
          <p:cNvPr id="4" name="Text 2"/>
          <p:cNvSpPr/>
          <p:nvPr/>
        </p:nvSpPr>
        <p:spPr>
          <a:xfrm>
            <a:off x="1073150" y="1830040"/>
            <a:ext cx="482688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F7D4F"/>
                </a:solidFill>
                <a:latin typeface="Rubik" pitchFamily="34" charset="0"/>
                <a:ea typeface="Rubik" pitchFamily="34" charset="-122"/>
                <a:cs typeface="Rubik" pitchFamily="34" charset="-120"/>
              </a:rPr>
              <a:t>Impact</a:t>
            </a:r>
            <a:endParaRPr lang="en-US" sz="2000" dirty="0"/>
          </a:p>
        </p:txBody>
      </p:sp>
      <p:sp>
        <p:nvSpPr>
          <p:cNvPr id="5" name="Text 3"/>
          <p:cNvSpPr/>
          <p:nvPr/>
        </p:nvSpPr>
        <p:spPr>
          <a:xfrm>
            <a:off x="1157732" y="2236440"/>
            <a:ext cx="4734687" cy="1358900"/>
          </a:xfrm>
          <a:prstGeom prst="rect">
            <a:avLst/>
          </a:prstGeom>
          <a:noFill/>
          <a:ln/>
        </p:spPr>
        <p:txBody>
          <a:bodyPr wrap="square" lIns="0" tIns="0" rIns="0" bIns="0" rtlCol="0" anchor="t">
            <a:normAutofit/>
          </a:bodyPr>
          <a:lstStyle/>
          <a:p>
            <a:pPr marL="169418" indent="-169418" algn="l">
              <a:lnSpc>
                <a:spcPts val="2100"/>
              </a:lnSpc>
              <a:buSzPct val="100000"/>
              <a:buChar char="•"/>
            </a:pPr>
            <a:r>
              <a:rPr sz="1500" b="0">
                <a:solidFill>
                  <a:srgbClr val="202B24"/>
                </a:solidFill>
              </a:rPr>
              <a:t>Earlier identification of possible crop issues</a:t>
            </a:r>
            <a:br/>
            <a:r>
              <a:rPr sz="1500" b="0">
                <a:solidFill>
                  <a:srgbClr val="202B24"/>
                </a:solidFill>
              </a:rPr>
              <a:t>More informed crop and input decisions under climate stress</a:t>
            </a:r>
            <a:br/>
            <a:r>
              <a:rPr sz="1500" b="0">
                <a:solidFill>
                  <a:srgbClr val="202B24"/>
                </a:solidFill>
              </a:rPr>
              <a:t>A clearer basis for discussing prices with buyers</a:t>
            </a:r>
            <a:br/>
            <a:r>
              <a:rPr sz="1500" b="0">
                <a:solidFill>
                  <a:srgbClr val="202B24"/>
                </a:solidFill>
              </a:rPr>
              <a:t>Advice and voice support in familiar languages</a:t>
            </a:r>
            <a:endParaRPr lang="en-US" sz="1400" dirty="0"/>
          </a:p>
        </p:txBody>
      </p:sp>
      <p:sp>
        <p:nvSpPr>
          <p:cNvPr id="6" name="Shape 4"/>
          <p:cNvSpPr/>
          <p:nvPr/>
        </p:nvSpPr>
        <p:spPr>
          <a:xfrm>
            <a:off x="6175375" y="1572865"/>
            <a:ext cx="5200650" cy="2520950"/>
          </a:xfrm>
          <a:prstGeom prst="roundRect">
            <a:avLst>
              <a:gd name="adj" fmla="val 3904"/>
            </a:avLst>
          </a:prstGeom>
          <a:solidFill>
            <a:srgbClr val="FFFDF8"/>
          </a:solidFill>
          <a:ln w="6350">
            <a:solidFill>
              <a:srgbClr val="DDD6C3"/>
            </a:solidFill>
            <a:prstDash val="solid"/>
          </a:ln>
        </p:spPr>
      </p:sp>
      <p:sp>
        <p:nvSpPr>
          <p:cNvPr id="7" name="Text 5"/>
          <p:cNvSpPr/>
          <p:nvPr/>
        </p:nvSpPr>
        <p:spPr>
          <a:xfrm>
            <a:off x="6432550" y="1830040"/>
            <a:ext cx="482688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F7D4F"/>
                </a:solidFill>
                <a:latin typeface="Rubik" pitchFamily="34" charset="0"/>
                <a:ea typeface="Rubik" pitchFamily="34" charset="-122"/>
                <a:cs typeface="Rubik" pitchFamily="34" charset="-120"/>
              </a:rPr>
              <a:t>Honest limits</a:t>
            </a:r>
            <a:endParaRPr lang="en-US" sz="2000" dirty="0"/>
          </a:p>
        </p:txBody>
      </p:sp>
      <p:sp>
        <p:nvSpPr>
          <p:cNvPr id="8" name="Text 6"/>
          <p:cNvSpPr/>
          <p:nvPr/>
        </p:nvSpPr>
        <p:spPr>
          <a:xfrm>
            <a:off x="6517132" y="2236440"/>
            <a:ext cx="4734687" cy="1625600"/>
          </a:xfrm>
          <a:prstGeom prst="rect">
            <a:avLst/>
          </a:prstGeom>
          <a:noFill/>
          <a:ln/>
        </p:spPr>
        <p:txBody>
          <a:bodyPr wrap="square" lIns="0" tIns="0" rIns="0" bIns="0" rtlCol="0" anchor="t">
            <a:normAutofit fontScale="85000" lnSpcReduction="10000"/>
          </a:bodyPr>
          <a:lstStyle/>
          <a:p>
            <a:pPr marL="169418" indent="-169418" algn="l">
              <a:lnSpc>
                <a:spcPts val="2100"/>
              </a:lnSpc>
              <a:buSzPct val="100000"/>
              <a:buChar char="•"/>
            </a:pPr>
            <a:r>
              <a:rPr sz="1300" b="0">
                <a:solidFill>
                  <a:srgbClr val="202B24"/>
                </a:solidFill>
              </a:rPr>
              <a:t>Air-quality score is an AQI proxy, not rainwater pH</a:t>
            </a:r>
            <a:br/>
            <a:r>
              <a:rPr sz="1300" b="0">
                <a:solidFill>
                  <a:srgbClr val="202B24"/>
                </a:solidFill>
              </a:rPr>
              <a:t>Crop and cost tables use prototype assumptions, not official figures</a:t>
            </a:r>
            <a:br/>
            <a:r>
              <a:rPr sz="1300" b="0">
                <a:solidFill>
                  <a:srgbClr val="202B24"/>
                </a:solidFill>
              </a:rPr>
              <a:t>Flood signal is indicative only</a:t>
            </a:r>
            <a:br/>
            <a:r>
              <a:rPr sz="1300" b="0">
                <a:solidFill>
                  <a:srgbClr val="202B24"/>
                </a:solidFill>
              </a:rPr>
              <a:t>Several regional-language translations and voices are weaker than Urdu</a:t>
            </a:r>
            <a:br/>
            <a:r>
              <a:rPr sz="1300" b="0">
                <a:solidFill>
                  <a:srgbClr val="202B24"/>
                </a:solidFill>
              </a:rPr>
              <a:t>Advice does not replace a local agriculture officer</a:t>
            </a:r>
            <a:endParaRPr lang="en-US" sz="1400" dirty="0"/>
          </a:p>
        </p:txBody>
      </p:sp>
      <p:sp>
        <p:nvSpPr>
          <p:cNvPr id="9" name="Text 7"/>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0"/>
                </a:solidFill>
                <a:latin typeface="Nunito Sans" pitchFamily="34" charset="0"/>
                <a:ea typeface="Nunito Sans" pitchFamily="34" charset="-122"/>
                <a:cs typeface="Nunito Sans" pitchFamily="34" charset="-120"/>
              </a:rPr>
              <a:t>Kisan AI</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61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3EA"/>
                </a:solidFill>
                <a:latin typeface="Rubik" pitchFamily="34" charset="0"/>
                <a:ea typeface="Rubik" pitchFamily="34" charset="-122"/>
                <a:cs typeface="Rubik" pitchFamily="34" charset="-120"/>
              </a:rPr>
              <a:t>Roadmap</a:t>
            </a:r>
            <a:endParaRPr lang="en-US" sz="3600" dirty="0"/>
          </a:p>
        </p:txBody>
      </p:sp>
      <p:sp>
        <p:nvSpPr>
          <p:cNvPr id="3" name="Shape 1"/>
          <p:cNvSpPr/>
          <p:nvPr/>
        </p:nvSpPr>
        <p:spPr>
          <a:xfrm>
            <a:off x="815975" y="1572865"/>
            <a:ext cx="5200650" cy="1987550"/>
          </a:xfrm>
          <a:prstGeom prst="roundRect">
            <a:avLst>
              <a:gd name="adj" fmla="val 4952"/>
            </a:avLst>
          </a:prstGeom>
          <a:solidFill>
            <a:srgbClr val="1B3829"/>
          </a:solidFill>
          <a:ln w="6350">
            <a:solidFill>
              <a:srgbClr val="2C5240"/>
            </a:solidFill>
            <a:prstDash val="solid"/>
          </a:ln>
        </p:spPr>
      </p:sp>
      <p:sp>
        <p:nvSpPr>
          <p:cNvPr id="4" name="Text 2"/>
          <p:cNvSpPr/>
          <p:nvPr/>
        </p:nvSpPr>
        <p:spPr>
          <a:xfrm>
            <a:off x="1073150" y="1830040"/>
            <a:ext cx="482688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0A43B"/>
                </a:solidFill>
                <a:latin typeface="Rubik" pitchFamily="34" charset="0"/>
                <a:ea typeface="Rubik" pitchFamily="34" charset="-122"/>
                <a:cs typeface="Rubik" pitchFamily="34" charset="-120"/>
              </a:rPr>
              <a:t>Next</a:t>
            </a:r>
            <a:endParaRPr lang="en-US" sz="2000" dirty="0"/>
          </a:p>
        </p:txBody>
      </p:sp>
      <p:sp>
        <p:nvSpPr>
          <p:cNvPr id="5" name="Text 3"/>
          <p:cNvSpPr/>
          <p:nvPr/>
        </p:nvSpPr>
        <p:spPr>
          <a:xfrm>
            <a:off x="1157732" y="2236440"/>
            <a:ext cx="4734687" cy="825500"/>
          </a:xfrm>
          <a:prstGeom prst="rect">
            <a:avLst/>
          </a:prstGeom>
          <a:noFill/>
          <a:ln/>
        </p:spPr>
        <p:txBody>
          <a:bodyPr wrap="square" lIns="0" tIns="0" rIns="0" bIns="0" rtlCol="0" anchor="t">
            <a:normAutofit fontScale="92500"/>
          </a:bodyPr>
          <a:lstStyle/>
          <a:p>
            <a:pPr marL="169418" indent="-169418" algn="l">
              <a:lnSpc>
                <a:spcPts val="2100"/>
              </a:lnSpc>
              <a:buSzPct val="100000"/>
              <a:buChar char="•"/>
            </a:pPr>
            <a:r>
              <a:rPr sz="1500" b="0" dirty="0"/>
              <a:t>Validate outputs with agronomists and local field data</a:t>
            </a:r>
            <a:br>
              <a:rPr dirty="0"/>
            </a:br>
            <a:r>
              <a:rPr sz="1500" b="0" dirty="0"/>
              <a:t>Improve regional-language translation and voice quality</a:t>
            </a:r>
            <a:br>
              <a:rPr dirty="0"/>
            </a:br>
            <a:r>
              <a:rPr sz="1500" b="0" dirty="0"/>
              <a:t>Add clearer sourcing for crop costs and care guidance</a:t>
            </a:r>
            <a:endParaRPr lang="en-US" sz="1400" dirty="0"/>
          </a:p>
        </p:txBody>
      </p:sp>
      <p:sp>
        <p:nvSpPr>
          <p:cNvPr id="6" name="Shape 4"/>
          <p:cNvSpPr/>
          <p:nvPr/>
        </p:nvSpPr>
        <p:spPr>
          <a:xfrm>
            <a:off x="6175375" y="1572865"/>
            <a:ext cx="5200650" cy="1987550"/>
          </a:xfrm>
          <a:prstGeom prst="roundRect">
            <a:avLst>
              <a:gd name="adj" fmla="val 4952"/>
            </a:avLst>
          </a:prstGeom>
          <a:solidFill>
            <a:srgbClr val="1B3829"/>
          </a:solidFill>
          <a:ln w="6350">
            <a:solidFill>
              <a:srgbClr val="2C5240"/>
            </a:solidFill>
            <a:prstDash val="solid"/>
          </a:ln>
        </p:spPr>
      </p:sp>
      <p:sp>
        <p:nvSpPr>
          <p:cNvPr id="7" name="Text 5"/>
          <p:cNvSpPr/>
          <p:nvPr/>
        </p:nvSpPr>
        <p:spPr>
          <a:xfrm>
            <a:off x="6432550" y="1830040"/>
            <a:ext cx="482688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0A43B"/>
                </a:solidFill>
                <a:latin typeface="Rubik" pitchFamily="34" charset="0"/>
                <a:ea typeface="Rubik" pitchFamily="34" charset="-122"/>
                <a:cs typeface="Rubik" pitchFamily="34" charset="-120"/>
              </a:rPr>
              <a:t>Later</a:t>
            </a:r>
            <a:endParaRPr lang="en-US" sz="2000" dirty="0"/>
          </a:p>
        </p:txBody>
      </p:sp>
      <p:sp>
        <p:nvSpPr>
          <p:cNvPr id="8" name="Text 6"/>
          <p:cNvSpPr/>
          <p:nvPr/>
        </p:nvSpPr>
        <p:spPr>
          <a:xfrm>
            <a:off x="6517132" y="2236440"/>
            <a:ext cx="4734687" cy="1092200"/>
          </a:xfrm>
          <a:prstGeom prst="rect">
            <a:avLst/>
          </a:prstGeom>
          <a:noFill/>
          <a:ln/>
        </p:spPr>
        <p:txBody>
          <a:bodyPr wrap="square" lIns="0" tIns="0" rIns="0" bIns="0" rtlCol="0" anchor="t">
            <a:normAutofit fontScale="92500"/>
          </a:bodyPr>
          <a:lstStyle/>
          <a:p>
            <a:pPr marL="169418" indent="-169418" algn="l">
              <a:lnSpc>
                <a:spcPts val="2100"/>
              </a:lnSpc>
              <a:buSzPct val="100000"/>
              <a:buChar char="•"/>
            </a:pPr>
            <a:r>
              <a:rPr sz="1500" b="0" dirty="0"/>
              <a:t>Add irrigation and sowing-window recommendations</a:t>
            </a:r>
            <a:br>
              <a:rPr dirty="0"/>
            </a:br>
            <a:r>
              <a:rPr sz="1500" b="0" dirty="0"/>
              <a:t>Develop low-connectivity delivery through SMS / WhatsApp</a:t>
            </a:r>
            <a:br>
              <a:rPr dirty="0"/>
            </a:br>
            <a:r>
              <a:rPr sz="1500" b="0" dirty="0"/>
              <a:t>Explore satellite-based smog and flood alerts</a:t>
            </a:r>
            <a:endParaRPr lang="en-US" sz="1400" dirty="0"/>
          </a:p>
        </p:txBody>
      </p:sp>
      <p:sp>
        <p:nvSpPr>
          <p:cNvPr id="9" name="Text 7"/>
          <p:cNvSpPr/>
          <p:nvPr/>
        </p:nvSpPr>
        <p:spPr>
          <a:xfrm>
            <a:off x="812800" y="3817590"/>
            <a:ext cx="10883392" cy="421630"/>
          </a:xfrm>
          <a:prstGeom prst="rect">
            <a:avLst/>
          </a:prstGeom>
          <a:noFill/>
          <a:ln/>
        </p:spPr>
        <p:txBody>
          <a:bodyPr wrap="square" lIns="0" tIns="0" rIns="0" bIns="0" rtlCol="0" anchor="t">
            <a:normAutofit/>
          </a:bodyPr>
          <a:lstStyle/>
          <a:p>
            <a:pPr marL="0" indent="0" algn="l">
              <a:lnSpc>
                <a:spcPts val="3120"/>
              </a:lnSpc>
              <a:buNone/>
            </a:pPr>
            <a:r>
              <a:rPr sz="2800" b="1">
                <a:solidFill>
                  <a:srgbClr val="1F5E3D"/>
                </a:solidFill>
              </a:rPr>
              <a:t>Thank you. Questions?</a:t>
            </a:r>
            <a:endParaRPr lang="en-US" sz="2600" dirty="0"/>
          </a:p>
        </p:txBody>
      </p:sp>
    </p:spTree>
  </p:cSld>
  <p:clrMapOvr>
    <a:masterClrMapping/>
  </p:clrMapOvr>
</p:sld>
</file>

<file path=ppt/theme/theme1.xml><?xml version="1.0" encoding="utf-8"?>
<a:theme xmlns:a="http://schemas.openxmlformats.org/drawingml/2006/main" name="Kisan AI Presentation">
  <a:themeElements>
    <a:clrScheme name="Kisan AI Presentation">
      <a:dk1>
        <a:srgbClr val="12261C"/>
      </a:dk1>
      <a:lt1>
        <a:srgbClr val="F6F3EA"/>
      </a:lt1>
      <a:dk2>
        <a:srgbClr val="293B31"/>
      </a:dk2>
      <a:lt2>
        <a:srgbClr val="BDC0B7"/>
      </a:lt2>
      <a:accent1>
        <a:srgbClr val="E0A43B"/>
      </a:accent1>
      <a:accent2>
        <a:srgbClr val="2F7D4F"/>
      </a:accent2>
      <a:accent3>
        <a:srgbClr val="4A5A50"/>
      </a:accent3>
      <a:accent4>
        <a:srgbClr val="BFD3C5"/>
      </a:accent4>
      <a:accent5>
        <a:srgbClr val="9AA0A6"/>
      </a:accent5>
      <a:accent6>
        <a:srgbClr val="9BA198"/>
      </a:accent6>
      <a:hlink>
        <a:srgbClr val="0563C1"/>
      </a:hlink>
      <a:folHlink>
        <a:srgbClr val="954F72"/>
      </a:folHlink>
    </a:clrScheme>
    <a:fontScheme name="Kisan AI Presentation">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1059</Words>
  <Application>Microsoft Office PowerPoint</Application>
  <PresentationFormat>Widescreen</PresentationFormat>
  <Paragraphs>87</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Aptos Display</vt:lpstr>
      <vt:lpstr>Arial</vt:lpstr>
      <vt:lpstr>Calibri</vt:lpstr>
      <vt:lpstr>Nunito Sans</vt:lpstr>
      <vt:lpstr>Rubik</vt:lpstr>
      <vt:lpstr>Kisan AI Presentation</vt:lpstr>
      <vt:lpstr>Kisan Sahulat </vt:lpstr>
      <vt:lpstr>The problem</vt:lpstr>
      <vt:lpstr>Our solution</vt:lpstr>
      <vt:lpstr>How it works</vt:lpstr>
      <vt:lpstr>The MVP</vt:lpstr>
      <vt:lpstr>Results</vt:lpstr>
      <vt:lpstr>Impact and limits</vt:lpstr>
      <vt:lpstr>Roadmap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Kisan AI Presentation</dc:title>
  <dc:subject/>
  <dc:creator/>
  <cp:lastModifiedBy>toobashoaib75@gmail.com</cp:lastModifiedBy>
  <cp:revision>3</cp:revision>
  <dcterms:created xsi:type="dcterms:W3CDTF">2026-10-10T16:05:47Z</dcterms:created>
  <dcterms:modified xsi:type="dcterms:W3CDTF">2026-10-10T18:41:03Z</dcterms:modified>
</cp:coreProperties>
</file>